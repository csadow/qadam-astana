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25 секунд</a:t>
            </a:r>
          </a:p>
          <a:p/>
          <a:p>
            <a:r>
              <a:t>Здравствуйте! Мы — ArcSolo, это Qadam. Представьте: у вас час возле EXPO, но кафе оказалось недоступно. Вы потеряли ещё пятнадцать минут, а вернуться нужно к трём. Qadam перестраивает оставшуюся прогулку, сохраняя первоначальный срок и точку возвращения. Покажем это в репетиции. Маршрут опирается на реальные места, источники и явные ограничения; время остаётся оценкой.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25 секунд</a:t>
            </a:r>
          </a:p>
          <a:p/>
          <a:p>
            <a:r>
              <a:t>Недостаточно назвать популярный парк. Пользователь спрашивает: что подходит рядом со мной и под мой запас времени? Родителю важен формат прогулки, туристу — расстояние, человеку с ноутбуком — розетка. Но данных о розетке может не быть. Мы соединяем поиск, проверку условий и короткое объяснение, а неизвестное оставляем видимым.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30 секунд</a:t>
            </a:r>
          </a:p>
          <a:p/>
          <a:p>
            <a:r>
              <a:t>Это рабочий прототип. Задаём старт, время и желание. Получаем один маршрут: карточки, карта и экспорт показывают те же остановки и длительность. На телефоне маршрут виден первым, подробные предпочтения раскрываются по необходимости. Демо использует явно обозначенное время; режим «Сейчас» берёт текущие часы. Интерфейс работает на английском, русском и казахском. Геолокация необязательна.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60 секунд</a:t>
            </a:r>
          </a:p>
          <a:p/>
          <a:p>
            <a:r>
              <a:t>Покажем час возле EXPO. Две остановки занимают примерно пятьдесят три минуты, включая возвращение. Сплошная линия следует связным пешеходным путям OSM, пунктир — примерным соединениям. На первом экране нажимаем «Попробовать Идём вместе»: репетиция уже настроена на возвращение к пятнадцати часам с пятью минутами запаса. Представим, что пришли в кафе, а оно недоступно. Отмечаем это, затем теряем пятнадцать минут. Точка изменилась, остаток времени уменьшился, но срок пятнадцать часов сохранён. Добавляем дождь: уличные посещения исчезают, ограничения остаются. Можно выбрать возвращение сейчас. Указание недоступности действует только в нашей прогулке, общую базу оно не меняет. Реальное состояние входов требует проверки.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30 секунд</a:t>
            </a:r>
          </a:p>
          <a:p/>
          <a:p>
            <a:r>
              <a:t>Сбор данных автоматизирован. Скрипт получает OpenStreetMap, фильтрует категории и удаляет дубликаты. В снимке триста мест в пяти районах. У ста двух есть часы, у двадцати шести — тег доступности. Отдельный слой обогащает девятнадцать записей: тридцать два факта о восемнадцати местах и ограничения доступа. Первичные источники уточнили понедельник в музее и вход в кампус. Дата исследования не означает проверку на месте.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35 секунд</a:t>
            </a:r>
          </a:p>
          <a:p/>
          <a:p>
            <a:r>
              <a:t>Поиск сочетает BM25 и многоязычные понятия. Проверки учитывают расстояние, длительность, расписание и отказ от категорий. Gemini получает только выбранные места, факты и ограниченный контекст. Он пишет объяснение, занятие и небольшую миссию. Проверяем ID мест, цитаты и распространённые неподтверждённые обещания. Но это не доказательство каждого предложения. Факты и правила показаны отдельно, а при ошибке остаётся обозначенный шаблонный режим.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35 секунд</a:t>
            </a:r>
          </a:p>
          <a:p/>
          <a:p>
            <a:r>
              <a:t>Главный новый сценарий: мы пришли в кафе, а оно недоступно. Затем потеряли пятнадцать минут и начался дождь. Qadam пересчитывает только оставшийся план от подтверждённой точки. Срок возвращения и первоначальный старт не меняются, запас не тратится молча. Завершённые места не добавляются снова. Если посещение уже не помещается, остаётся возвращение; если и оно не успевает, приложение прямо показывает это. Жюри может проверить всё в явно обозначенной репетиции. В реальной прогулке часы обновляются при действиях, местоположение подтверждает человек.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30 секунд</a:t>
            </a:r>
          </a:p>
          <a:p/>
          <a:p>
            <a:r>
              <a:t>Отсутствие данных не превращается в уверенное обещание. Розетки и тишина здесь неизвестны. Тег доступности заведения не означает проверенный путь без ступеней. Точные координаты, исходный запрос и история редактирования остаются в браузере. Карта не обращается к сторонним тайлам. В Gemini уходят публичные места и нормализованные предпочтения. Сетевые метаданные при этом могут обрабатываться инфраструктурой провайдера.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25 секунд</a:t>
            </a:r>
          </a:p>
          <a:p/>
          <a:p>
            <a:r>
              <a:t>Проходят сто три теста кода, шесть проверок сборщика графа, двадцать пять приёмочных сценариев и сто шесть проверок браузера. Целевой аудит сложных запросов улучшился с трёх до десяти из десяти; ещё двенадцать перефразировок прошли. Проверены обходы, односторонние пути, разрывы сети, дедлайны и неполные истории. Живой Gemini работает. Это инженерная проверка конкретных примеров, не общая точность и не пользовательское исследование.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30 секунд</a:t>
            </a:r>
          </a:p>
          <a:p/>
          <a:p>
            <a:r>
              <a:t>Пользовательская прогулка остаётся бесплатной. B2B-гипотеза — виджет для отелей, городских порталов и организаторов мероприятий. Выручку мы пока не заявляем. Для пилота предлагаем двадцать пользователей, три сценария и две недели. Измеряем время до выбора, полезность и ошибки ограничений. Партнёрские размещения должны быть обозначены и не смогут отменять ограничения маршрута.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30 секунд</a:t>
            </a:r>
          </a:p>
          <a:p/>
          <a:p>
            <a:r>
              <a:t>Основные возможности работают: точнее понимаем время и отказ, строим пешеходные пути в пяти районах, связываем места в истории, предлагаем проверенный выход из пустого результата и учитываем срок возвращения с запасом. Теперь пути собраны в пяти районах, а не только в EXPO. Добавлены местные факты о пяти местах, неясное время требует подтверждения, карточки показывают реальный переход от предыдущей остановки. Входы не проверены на месте; нужны обновление источников и проверка казахского. Пользовательские сессии отложены; спрос и удобство пока не доказаны.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 секунд</a:t>
            </a:r>
          </a:p>
          <a:p/>
          <a:p>
            <a:r>
              <a:t>Qadam превращает свободный час в небольшой понятный план. Пользователь видит реальные места, ограничения и возможность изменить решение. Работают сбор данных, интерфейс, генерация и проверки. План адаптируется уже во время прогулки: меняется оставшийся путь, сохраняется исходное обязательство вернуться. Жюри может проверить это в репетиции. Спасибо! Готовы показать любой сценарий.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03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3400" y="320040"/>
            <a:ext cx="4572000" cy="2670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82"/>
              </a:lnSpc>
              <a:spcBef>
                <a:spcPts val="0"/>
              </a:spcBef>
              <a:spcAft>
                <a:spcPts val="0"/>
              </a:spcAft>
              <a:defRPr sz="1080" b="1">
                <a:solidFill>
                  <a:srgbClr val="D6ED92"/>
                </a:solidFill>
                <a:latin typeface="Noto Sans"/>
              </a:defRPr>
            </a:pPr>
            <a:r>
              <a:t>QADAM / ARCSOLO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4800" y="320040"/>
            <a:ext cx="3733800" cy="25725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05"/>
              </a:lnSpc>
              <a:spcBef>
                <a:spcPts val="0"/>
              </a:spcBef>
              <a:spcAft>
                <a:spcPts val="0"/>
              </a:spcAft>
              <a:defRPr sz="1019" b="0">
                <a:solidFill>
                  <a:srgbClr val="D6ED92"/>
                </a:solidFill>
                <a:latin typeface="Noto Sans"/>
              </a:defRPr>
            </a:pPr>
            <a:r>
              <a:t>01 / ИДЕЯ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876300"/>
            <a:ext cx="11049000" cy="5734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794"/>
              </a:lnSpc>
              <a:spcBef>
                <a:spcPts val="0"/>
              </a:spcBef>
              <a:spcAft>
                <a:spcPts val="0"/>
              </a:spcAft>
              <a:defRPr sz="3300" b="0">
                <a:solidFill>
                  <a:srgbClr val="D6ED92"/>
                </a:solidFill>
                <a:latin typeface="Noto Serif"/>
              </a:defRPr>
            </a:pPr>
            <a:r>
              <a:t>Кафе недоступно. Вернуться нужно к 15:00.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6446520"/>
            <a:ext cx="8382000" cy="24749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28"/>
              </a:lnSpc>
              <a:spcBef>
                <a:spcPts val="0"/>
              </a:spcBef>
              <a:spcAft>
                <a:spcPts val="0"/>
              </a:spcAft>
              <a:defRPr sz="960" b="0">
                <a:solidFill>
                  <a:srgbClr val="D6ED92"/>
                </a:solidFill>
                <a:latin typeface="Noto Sans"/>
              </a:defRPr>
            </a:pPr>
            <a:r>
              <a:t>BUILD WITH AI · SMART CITY · TRACK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25200" y="6416040"/>
            <a:ext cx="495300" cy="2962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12"/>
              </a:lnSpc>
              <a:spcBef>
                <a:spcPts val="0"/>
              </a:spcBef>
              <a:spcAft>
                <a:spcPts val="0"/>
              </a:spcAft>
              <a:defRPr sz="1260" b="1">
                <a:solidFill>
                  <a:srgbClr val="D6ED92"/>
                </a:solidFill>
                <a:latin typeface="Noto Sans"/>
              </a:defRPr>
            </a:pPr>
            <a: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1500" y="2171700"/>
            <a:ext cx="7239000" cy="1554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1519"/>
              </a:lnSpc>
              <a:spcBef>
                <a:spcPts val="0"/>
              </a:spcBef>
              <a:spcAft>
                <a:spcPts val="0"/>
              </a:spcAft>
              <a:defRPr sz="9000" b="0">
                <a:solidFill>
                  <a:srgbClr val="D6ED92"/>
                </a:solidFill>
                <a:latin typeface="Noto Serif"/>
              </a:defRPr>
            </a:pPr>
            <a:r>
              <a:t>qadam.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7700" y="3771900"/>
            <a:ext cx="8763000" cy="10472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763"/>
              </a:lnSpc>
              <a:spcBef>
                <a:spcPts val="0"/>
              </a:spcBef>
              <a:spcAft>
                <a:spcPts val="0"/>
              </a:spcAft>
              <a:defRPr sz="2940" b="0">
                <a:solidFill>
                  <a:srgbClr val="FFFEFA"/>
                </a:solidFill>
                <a:latin typeface="Noto Serif"/>
              </a:defRPr>
            </a:pPr>
            <a:r>
              <a:t>Планы меняются.</a:t>
            </a:r>
          </a:p>
          <a:p>
            <a:pPr>
              <a:lnSpc>
                <a:spcPts val="3763"/>
              </a:lnSpc>
              <a:spcBef>
                <a:spcPts val="0"/>
              </a:spcBef>
              <a:spcAft>
                <a:spcPts val="0"/>
              </a:spcAft>
              <a:defRPr sz="2940" b="0">
                <a:solidFill>
                  <a:srgbClr val="FFFEFA"/>
                </a:solidFill>
                <a:latin typeface="Noto Serif"/>
              </a:defRPr>
            </a:pPr>
            <a:r>
              <a:t>Срок возвращения остаётся.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7700" y="5204460"/>
            <a:ext cx="7620000" cy="35478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B6C6B7"/>
                </a:solidFill>
                <a:latin typeface="Noto Sans"/>
              </a:defRPr>
            </a:pPr>
            <a:r>
              <a:t>ИИ-помощник по городским прогулкам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220200" y="2270760"/>
            <a:ext cx="1676400" cy="1676400"/>
          </a:xfrm>
          <a:prstGeom prst="roundRect">
            <a:avLst>
              <a:gd name="adj" fmla="val 4000"/>
            </a:avLst>
          </a:prstGeom>
          <a:solidFill>
            <a:srgbClr val="D6ED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 flipV="1">
            <a:off x="9616440" y="2682240"/>
            <a:ext cx="861060" cy="861060"/>
          </a:xfrm>
          <a:prstGeom prst="line">
            <a:avLst/>
          </a:prstGeom>
          <a:ln w="45719">
            <a:solidFill>
              <a:srgbClr val="203E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9829800" y="2682240"/>
            <a:ext cx="647700" cy="0"/>
          </a:xfrm>
          <a:prstGeom prst="line">
            <a:avLst/>
          </a:prstGeom>
          <a:ln w="45719">
            <a:solidFill>
              <a:srgbClr val="203E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0477500" y="2682240"/>
            <a:ext cx="0" cy="647700"/>
          </a:xfrm>
          <a:prstGeom prst="line">
            <a:avLst/>
          </a:prstGeom>
          <a:ln w="45719">
            <a:solidFill>
              <a:srgbClr val="203E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3400" y="320040"/>
            <a:ext cx="4572000" cy="2670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82"/>
              </a:lnSpc>
              <a:spcBef>
                <a:spcPts val="0"/>
              </a:spcBef>
              <a:spcAft>
                <a:spcPts val="0"/>
              </a:spcAft>
              <a:defRPr sz="1080" b="1">
                <a:solidFill>
                  <a:srgbClr val="687768"/>
                </a:solidFill>
                <a:latin typeface="Noto Sans"/>
              </a:defRPr>
            </a:pPr>
            <a:r>
              <a:t>QADAM / ARCSOLO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4800" y="320040"/>
            <a:ext cx="3733800" cy="25725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05"/>
              </a:lnSpc>
              <a:spcBef>
                <a:spcPts val="0"/>
              </a:spcBef>
              <a:spcAft>
                <a:spcPts val="0"/>
              </a:spcAft>
              <a:defRPr sz="1019" b="0">
                <a:solidFill>
                  <a:srgbClr val="687768"/>
                </a:solidFill>
                <a:latin typeface="Noto Sans"/>
              </a:defRPr>
            </a:pPr>
            <a:r>
              <a:t>02 / ПРОБЛЕМА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876300"/>
            <a:ext cx="11049000" cy="5734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794"/>
              </a:lnSpc>
              <a:spcBef>
                <a:spcPts val="0"/>
              </a:spcBef>
              <a:spcAft>
                <a:spcPts val="0"/>
              </a:spcAft>
              <a:defRPr sz="3300" b="0">
                <a:solidFill>
                  <a:srgbClr val="203E36"/>
                </a:solidFill>
                <a:latin typeface="Noto Serif"/>
              </a:defRPr>
            </a:pPr>
            <a:r>
              <a:t>Свободное время есть. Готового плана — нет.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6446520"/>
            <a:ext cx="8382000" cy="24749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28"/>
              </a:lnSpc>
              <a:spcBef>
                <a:spcPts val="0"/>
              </a:spcBef>
              <a:spcAft>
                <a:spcPts val="0"/>
              </a:spcAft>
              <a:defRPr sz="960" b="0">
                <a:solidFill>
                  <a:srgbClr val="687768"/>
                </a:solidFill>
                <a:latin typeface="Noto Sans"/>
              </a:defRPr>
            </a:pPr>
            <a:r>
              <a:t>BUILD WITH AI · SMART CITY · TRACK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25200" y="6416040"/>
            <a:ext cx="495300" cy="2962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12"/>
              </a:lnSpc>
              <a:spcBef>
                <a:spcPts val="0"/>
              </a:spcBef>
              <a:spcAft>
                <a:spcPts val="0"/>
              </a:spcAft>
              <a:defRPr sz="1260" b="1">
                <a:solidFill>
                  <a:srgbClr val="687768"/>
                </a:solidFill>
                <a:latin typeface="Noto Sans"/>
              </a:defRPr>
            </a:pPr>
            <a:r>
              <a:t>02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3400" y="2286000"/>
            <a:ext cx="3543300" cy="2590800"/>
          </a:xfrm>
          <a:prstGeom prst="roundRect">
            <a:avLst>
              <a:gd name="adj" fmla="val 4000"/>
            </a:avLst>
          </a:prstGeom>
          <a:solidFill>
            <a:srgbClr val="FFF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6760" y="2514600"/>
            <a:ext cx="2971800" cy="3645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50"/>
              </a:lnSpc>
              <a:spcBef>
                <a:spcPts val="0"/>
              </a:spcBef>
              <a:spcAft>
                <a:spcPts val="0"/>
              </a:spcAft>
              <a:defRPr sz="1680" b="0">
                <a:solidFill>
                  <a:srgbClr val="687768"/>
                </a:solidFill>
                <a:latin typeface="Noto Serif"/>
              </a:defRPr>
            </a:pPr>
            <a: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6760" y="3055620"/>
            <a:ext cx="2971800" cy="4328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688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203E36"/>
                </a:solidFill>
                <a:latin typeface="Noto Serif"/>
              </a:defRPr>
            </a:pPr>
            <a:r>
              <a:t>Что рядом?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6760" y="3611879"/>
            <a:ext cx="2971800" cy="88148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687768"/>
                </a:solidFill>
                <a:latin typeface="Noto Sans"/>
              </a:defRPr>
            </a:pPr>
            <a:r>
              <a:t>Список мест ещё не</a:t>
            </a:r>
          </a:p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687768"/>
                </a:solidFill>
                <a:latin typeface="Noto Sans"/>
              </a:defRPr>
            </a:pPr>
            <a:r>
              <a:t>учитывает вашу точку старта</a:t>
            </a:r>
          </a:p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687768"/>
                </a:solidFill>
                <a:latin typeface="Noto Sans"/>
              </a:defRPr>
            </a:pPr>
            <a:r>
              <a:t>и интересы.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05300" y="2286000"/>
            <a:ext cx="3543300" cy="2590800"/>
          </a:xfrm>
          <a:prstGeom prst="roundRect">
            <a:avLst>
              <a:gd name="adj" fmla="val 4000"/>
            </a:avLst>
          </a:prstGeom>
          <a:solidFill>
            <a:srgbClr val="FFF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18660" y="2514600"/>
            <a:ext cx="2971800" cy="3645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50"/>
              </a:lnSpc>
              <a:spcBef>
                <a:spcPts val="0"/>
              </a:spcBef>
              <a:spcAft>
                <a:spcPts val="0"/>
              </a:spcAft>
              <a:defRPr sz="1680" b="0">
                <a:solidFill>
                  <a:srgbClr val="687768"/>
                </a:solidFill>
                <a:latin typeface="Noto Serif"/>
              </a:defRPr>
            </a:pPr>
            <a: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18660" y="3055620"/>
            <a:ext cx="2971800" cy="4328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688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203E36"/>
                </a:solidFill>
                <a:latin typeface="Noto Serif"/>
              </a:defRPr>
            </a:pPr>
            <a:r>
              <a:t>Успею ли я?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18660" y="3611879"/>
            <a:ext cx="2971800" cy="88148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687768"/>
                </a:solidFill>
                <a:latin typeface="Noto Sans"/>
              </a:defRPr>
            </a:pPr>
            <a:r>
              <a:t>На дорогу, посещение и</a:t>
            </a:r>
          </a:p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687768"/>
                </a:solidFill>
                <a:latin typeface="Noto Sans"/>
              </a:defRPr>
            </a:pPr>
            <a:r>
              <a:t>возвращение нужен общий</a:t>
            </a:r>
          </a:p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687768"/>
                </a:solidFill>
                <a:latin typeface="Noto Sans"/>
              </a:defRPr>
            </a:pPr>
            <a:r>
              <a:t>бюджет.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77200" y="2286000"/>
            <a:ext cx="3543300" cy="2590800"/>
          </a:xfrm>
          <a:prstGeom prst="roundRect">
            <a:avLst>
              <a:gd name="adj" fmla="val 4000"/>
            </a:avLst>
          </a:prstGeom>
          <a:solidFill>
            <a:srgbClr val="FFF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90559" y="2514600"/>
            <a:ext cx="2971800" cy="3645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50"/>
              </a:lnSpc>
              <a:spcBef>
                <a:spcPts val="0"/>
              </a:spcBef>
              <a:spcAft>
                <a:spcPts val="0"/>
              </a:spcAft>
              <a:defRPr sz="1680" b="0">
                <a:solidFill>
                  <a:srgbClr val="687768"/>
                </a:solidFill>
                <a:latin typeface="Noto Serif"/>
              </a:defRPr>
            </a:pPr>
            <a: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90559" y="3055620"/>
            <a:ext cx="2971800" cy="4328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688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203E36"/>
                </a:solidFill>
                <a:latin typeface="Noto Serif"/>
              </a:defRPr>
            </a:pPr>
            <a:r>
              <a:t>Можно ли доверять?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90559" y="3611879"/>
            <a:ext cx="2971800" cy="88148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687768"/>
                </a:solidFill>
                <a:latin typeface="Noto Sans"/>
              </a:defRPr>
            </a:pPr>
            <a:r>
              <a:t>Розетки, часы работы и</a:t>
            </a:r>
          </a:p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687768"/>
                </a:solidFill>
                <a:latin typeface="Noto Sans"/>
              </a:defRPr>
            </a:pPr>
            <a:r>
              <a:t>доступность часто</a:t>
            </a:r>
          </a:p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687768"/>
                </a:solidFill>
                <a:latin typeface="Noto Sans"/>
              </a:defRPr>
            </a:pPr>
            <a:r>
              <a:t>неизвестны.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9120" y="5448300"/>
            <a:ext cx="10668000" cy="3840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304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203E36"/>
                </a:solidFill>
                <a:latin typeface="Noto Sans"/>
              </a:defRPr>
            </a:pPr>
            <a:r>
              <a:t>Для жителей, родителей и гостей города — когда есть 30–120 минут.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3400" y="320040"/>
            <a:ext cx="4572000" cy="2670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82"/>
              </a:lnSpc>
              <a:spcBef>
                <a:spcPts val="0"/>
              </a:spcBef>
              <a:spcAft>
                <a:spcPts val="0"/>
              </a:spcAft>
              <a:defRPr sz="1080" b="1">
                <a:solidFill>
                  <a:srgbClr val="687768"/>
                </a:solidFill>
                <a:latin typeface="Noto Sans"/>
              </a:defRPr>
            </a:pPr>
            <a:r>
              <a:t>QADAM / ARCSOLO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4800" y="320040"/>
            <a:ext cx="3733800" cy="25725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05"/>
              </a:lnSpc>
              <a:spcBef>
                <a:spcPts val="0"/>
              </a:spcBef>
              <a:spcAft>
                <a:spcPts val="0"/>
              </a:spcAft>
              <a:defRPr sz="1019" b="0">
                <a:solidFill>
                  <a:srgbClr val="687768"/>
                </a:solidFill>
                <a:latin typeface="Noto Sans"/>
              </a:defRPr>
            </a:pPr>
            <a:r>
              <a:t>03 / ПРОДУКТ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876300"/>
            <a:ext cx="11049000" cy="5734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794"/>
              </a:lnSpc>
              <a:spcBef>
                <a:spcPts val="0"/>
              </a:spcBef>
              <a:spcAft>
                <a:spcPts val="0"/>
              </a:spcAft>
              <a:defRPr sz="3300" b="0">
                <a:solidFill>
                  <a:srgbClr val="203E36"/>
                </a:solidFill>
                <a:latin typeface="Noto Serif"/>
              </a:defRPr>
            </a:pPr>
            <a:r>
              <a:t>Один экран: от желания к маленькой прогулке.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6446520"/>
            <a:ext cx="8382000" cy="24749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28"/>
              </a:lnSpc>
              <a:spcBef>
                <a:spcPts val="0"/>
              </a:spcBef>
              <a:spcAft>
                <a:spcPts val="0"/>
              </a:spcAft>
              <a:defRPr sz="960" b="0">
                <a:solidFill>
                  <a:srgbClr val="687768"/>
                </a:solidFill>
                <a:latin typeface="Noto Sans"/>
              </a:defRPr>
            </a:pPr>
            <a:r>
              <a:t>BUILD WITH AI · SMART CITY · TRACK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25200" y="6416040"/>
            <a:ext cx="495300" cy="2962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12"/>
              </a:lnSpc>
              <a:spcBef>
                <a:spcPts val="0"/>
              </a:spcBef>
              <a:spcAft>
                <a:spcPts val="0"/>
              </a:spcAft>
              <a:defRPr sz="1260" b="1">
                <a:solidFill>
                  <a:srgbClr val="687768"/>
                </a:solidFill>
                <a:latin typeface="Noto Sans"/>
              </a:defRPr>
            </a:pPr>
            <a:r>
              <a:t>03</a:t>
            </a:r>
          </a:p>
        </p:txBody>
      </p:sp>
      <p:pic>
        <p:nvPicPr>
          <p:cNvPr id="8" name="Picture 7" descr="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2057400"/>
            <a:ext cx="7162800" cy="2541394"/>
          </a:xfrm>
          <a:prstGeom prst="rect">
            <a:avLst/>
          </a:prstGeom>
        </p:spPr>
      </p:pic>
      <p:pic>
        <p:nvPicPr>
          <p:cNvPr id="9" name="Picture 8" descr="rou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400" y="4991100"/>
            <a:ext cx="5154385" cy="11049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077200" y="2171700"/>
            <a:ext cx="3543300" cy="40355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defRPr sz="1920" b="0">
                <a:solidFill>
                  <a:srgbClr val="203E36"/>
                </a:solidFill>
                <a:latin typeface="Noto Serif"/>
              </a:defRPr>
            </a:pPr>
            <a:r>
              <a:t>Контекст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77200" y="2575560"/>
            <a:ext cx="3390900" cy="59862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996"/>
              </a:lnSpc>
              <a:spcBef>
                <a:spcPts val="0"/>
              </a:spcBef>
              <a:spcAft>
                <a:spcPts val="0"/>
              </a:spcAft>
              <a:defRPr sz="1560" b="0">
                <a:solidFill>
                  <a:srgbClr val="687768"/>
                </a:solidFill>
                <a:latin typeface="Noto Sans"/>
              </a:defRPr>
            </a:pPr>
            <a:r>
              <a:t>Старт, время, настроение,</a:t>
            </a:r>
          </a:p>
          <a:p>
            <a:pPr>
              <a:lnSpc>
                <a:spcPts val="1996"/>
              </a:lnSpc>
              <a:spcBef>
                <a:spcPts val="0"/>
              </a:spcBef>
              <a:spcAft>
                <a:spcPts val="0"/>
              </a:spcAft>
              <a:defRPr sz="1560" b="0">
                <a:solidFill>
                  <a:srgbClr val="687768"/>
                </a:solidFill>
                <a:latin typeface="Noto Sans"/>
              </a:defRPr>
            </a:pPr>
            <a:r>
              <a:t>компания и ограничения.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77200" y="3429000"/>
            <a:ext cx="3543300" cy="40355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defRPr sz="1920" b="0">
                <a:solidFill>
                  <a:srgbClr val="203E36"/>
                </a:solidFill>
                <a:latin typeface="Noto Serif"/>
              </a:defRPr>
            </a:pPr>
            <a:r>
              <a:t>1–3 варианта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77200" y="3832860"/>
            <a:ext cx="3390900" cy="59862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996"/>
              </a:lnSpc>
              <a:spcBef>
                <a:spcPts val="0"/>
              </a:spcBef>
              <a:spcAft>
                <a:spcPts val="0"/>
              </a:spcAft>
              <a:defRPr sz="1560" b="0">
                <a:solidFill>
                  <a:srgbClr val="687768"/>
                </a:solidFill>
                <a:latin typeface="Noto Sans"/>
              </a:defRPr>
            </a:pPr>
            <a:r>
              <a:t>Факты, личная идея и маленькая</a:t>
            </a:r>
          </a:p>
          <a:p>
            <a:pPr>
              <a:lnSpc>
                <a:spcPts val="1996"/>
              </a:lnSpc>
              <a:spcBef>
                <a:spcPts val="0"/>
              </a:spcBef>
              <a:spcAft>
                <a:spcPts val="0"/>
              </a:spcAft>
              <a:defRPr sz="1560" b="0">
                <a:solidFill>
                  <a:srgbClr val="687768"/>
                </a:solidFill>
                <a:latin typeface="Noto Sans"/>
              </a:defRPr>
            </a:pPr>
            <a:r>
              <a:t>миссия открытия.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77200" y="4686300"/>
            <a:ext cx="3543300" cy="40355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defRPr sz="1920" b="0">
                <a:solidFill>
                  <a:srgbClr val="203E36"/>
                </a:solidFill>
                <a:latin typeface="Noto Serif"/>
              </a:defRPr>
            </a:pPr>
            <a:r>
              <a:t>План с источниками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77200" y="5090160"/>
            <a:ext cx="3390900" cy="59862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996"/>
              </a:lnSpc>
              <a:spcBef>
                <a:spcPts val="0"/>
              </a:spcBef>
              <a:spcAft>
                <a:spcPts val="0"/>
              </a:spcAft>
              <a:defRPr sz="1560" b="0">
                <a:solidFill>
                  <a:srgbClr val="687768"/>
                </a:solidFill>
                <a:latin typeface="Noto Sans"/>
              </a:defRPr>
            </a:pPr>
            <a:r>
              <a:t>Групповой маршрут, план Б и</a:t>
            </a:r>
          </a:p>
          <a:p>
            <a:pPr>
              <a:lnSpc>
                <a:spcPts val="1996"/>
              </a:lnSpc>
              <a:spcBef>
                <a:spcPts val="0"/>
              </a:spcBef>
              <a:spcAft>
                <a:spcPts val="0"/>
              </a:spcAft>
              <a:defRPr sz="1560" b="0">
                <a:solidFill>
                  <a:srgbClr val="687768"/>
                </a:solidFill>
                <a:latin typeface="Noto Sans"/>
              </a:defRPr>
            </a:pPr>
            <a:r>
              <a:t>проверяемые источники.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3400" y="320040"/>
            <a:ext cx="4572000" cy="2670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82"/>
              </a:lnSpc>
              <a:spcBef>
                <a:spcPts val="0"/>
              </a:spcBef>
              <a:spcAft>
                <a:spcPts val="0"/>
              </a:spcAft>
              <a:defRPr sz="1080" b="1">
                <a:solidFill>
                  <a:srgbClr val="687768"/>
                </a:solidFill>
                <a:latin typeface="Noto Sans"/>
              </a:defRPr>
            </a:pPr>
            <a:r>
              <a:t>QADAM / ARCSOLO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4800" y="320040"/>
            <a:ext cx="3733800" cy="25725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05"/>
              </a:lnSpc>
              <a:spcBef>
                <a:spcPts val="0"/>
              </a:spcBef>
              <a:spcAft>
                <a:spcPts val="0"/>
              </a:spcAft>
              <a:defRPr sz="1019" b="0">
                <a:solidFill>
                  <a:srgbClr val="687768"/>
                </a:solidFill>
                <a:latin typeface="Noto Sans"/>
              </a:defRPr>
            </a:pPr>
            <a:r>
              <a:t>04 / ПОКАЗАТЬ ПРОДУКТ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876300"/>
            <a:ext cx="11049000" cy="5734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794"/>
              </a:lnSpc>
              <a:spcBef>
                <a:spcPts val="0"/>
              </a:spcBef>
              <a:spcAft>
                <a:spcPts val="0"/>
              </a:spcAft>
              <a:defRPr sz="3300" b="0">
                <a:solidFill>
                  <a:srgbClr val="203E36"/>
                </a:solidFill>
                <a:latin typeface="Noto Serif"/>
              </a:defRPr>
            </a:pPr>
            <a:r>
              <a:t>Демо: 60 минут возле EXPO.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6446520"/>
            <a:ext cx="8382000" cy="24749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28"/>
              </a:lnSpc>
              <a:spcBef>
                <a:spcPts val="0"/>
              </a:spcBef>
              <a:spcAft>
                <a:spcPts val="0"/>
              </a:spcAft>
              <a:defRPr sz="960" b="0">
                <a:solidFill>
                  <a:srgbClr val="687768"/>
                </a:solidFill>
                <a:latin typeface="Noto Sans"/>
              </a:defRPr>
            </a:pPr>
            <a:r>
              <a:t>BUILD WITH AI · SMART CITY · TRACK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25200" y="6416040"/>
            <a:ext cx="495300" cy="2962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12"/>
              </a:lnSpc>
              <a:spcBef>
                <a:spcPts val="0"/>
              </a:spcBef>
              <a:spcAft>
                <a:spcPts val="0"/>
              </a:spcAft>
              <a:defRPr sz="1260" b="1">
                <a:solidFill>
                  <a:srgbClr val="687768"/>
                </a:solidFill>
                <a:latin typeface="Noto Sans"/>
              </a:defRPr>
            </a:pPr>
            <a:r>
              <a:t>04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3400" y="2095500"/>
            <a:ext cx="11125200" cy="914400"/>
          </a:xfrm>
          <a:prstGeom prst="roundRect">
            <a:avLst>
              <a:gd name="adj" fmla="val 4000"/>
            </a:avLst>
          </a:prstGeom>
          <a:solidFill>
            <a:srgbClr val="203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0100" y="2339340"/>
            <a:ext cx="10439400" cy="4718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995"/>
              </a:lnSpc>
              <a:spcBef>
                <a:spcPts val="0"/>
              </a:spcBef>
              <a:spcAft>
                <a:spcPts val="0"/>
              </a:spcAft>
              <a:defRPr sz="2340" b="0">
                <a:solidFill>
                  <a:srgbClr val="D6ED92"/>
                </a:solidFill>
                <a:latin typeface="Noto Serif"/>
              </a:defRPr>
            </a:pPr>
            <a:r>
              <a:t>53 минуты = 33 минуты пешком + 20 минут на месте</a:t>
            </a:r>
          </a:p>
        </p:txBody>
      </p:sp>
      <p:pic>
        <p:nvPicPr>
          <p:cNvPr id="10" name="Picture 9" descr="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3314700"/>
            <a:ext cx="6477000" cy="2298069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429500" y="3429000"/>
            <a:ext cx="4114800" cy="8132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841"/>
              </a:lnSpc>
              <a:spcBef>
                <a:spcPts val="0"/>
              </a:spcBef>
              <a:spcAft>
                <a:spcPts val="0"/>
              </a:spcAft>
              <a:defRPr sz="2220" b="0">
                <a:solidFill>
                  <a:srgbClr val="203E36"/>
                </a:solidFill>
                <a:latin typeface="Noto Serif"/>
              </a:defRPr>
            </a:pPr>
            <a:r>
              <a:t>Короткая пауза → Аллея</a:t>
            </a:r>
          </a:p>
          <a:p>
            <a:pPr>
              <a:lnSpc>
                <a:spcPts val="2841"/>
              </a:lnSpc>
              <a:spcBef>
                <a:spcPts val="0"/>
              </a:spcBef>
              <a:spcAft>
                <a:spcPts val="0"/>
              </a:spcAft>
              <a:defRPr sz="2220" b="0">
                <a:solidFill>
                  <a:srgbClr val="203E36"/>
                </a:solidFill>
                <a:latin typeface="Noto Serif"/>
              </a:defRPr>
            </a:pPr>
            <a:r>
              <a:t>мира и согласия → старт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29500" y="4381500"/>
            <a:ext cx="4000500" cy="11448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687768"/>
                </a:solidFill>
                <a:latin typeface="Noto Sans"/>
              </a:defRPr>
            </a:pPr>
            <a:r>
              <a:t>Возвращение уже включено.</a:t>
            </a:r>
          </a:p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687768"/>
                </a:solidFill>
                <a:latin typeface="Noto Sans"/>
              </a:defRPr>
            </a:pPr>
            <a:r>
              <a:t>Остановки сокращены до 10 минут.</a:t>
            </a:r>
          </a:p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687768"/>
                </a:solidFill>
                <a:latin typeface="Noto Sans"/>
              </a:defRPr>
            </a:pPr>
            <a:r>
              <a:t>Закрепить · заменить · удалить ·</a:t>
            </a:r>
          </a:p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687768"/>
                </a:solidFill>
                <a:latin typeface="Noto Sans"/>
              </a:defRPr>
            </a:pPr>
            <a:r>
              <a:t>отменить.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6740" y="6080759"/>
            <a:ext cx="10896600" cy="2962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12"/>
              </a:lnSpc>
              <a:spcBef>
                <a:spcPts val="0"/>
              </a:spcBef>
              <a:spcAft>
                <a:spcPts val="0"/>
              </a:spcAft>
              <a:defRPr sz="1260" b="0">
                <a:solidFill>
                  <a:srgbClr val="687768"/>
                </a:solidFill>
                <a:latin typeface="Noto Sans"/>
              </a:defRPr>
            </a:pPr>
            <a:r>
              <a:t>EXPO: сплошные линии по OSM; пунктир — оценка соединений. Входы и перекрытия не проверены.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3400" y="320040"/>
            <a:ext cx="4572000" cy="2670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82"/>
              </a:lnSpc>
              <a:spcBef>
                <a:spcPts val="0"/>
              </a:spcBef>
              <a:spcAft>
                <a:spcPts val="0"/>
              </a:spcAft>
              <a:defRPr sz="1080" b="1">
                <a:solidFill>
                  <a:srgbClr val="687768"/>
                </a:solidFill>
                <a:latin typeface="Noto Sans"/>
              </a:defRPr>
            </a:pPr>
            <a:r>
              <a:t>QADAM / ARCSOLO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4800" y="320040"/>
            <a:ext cx="3733800" cy="25725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05"/>
              </a:lnSpc>
              <a:spcBef>
                <a:spcPts val="0"/>
              </a:spcBef>
              <a:spcAft>
                <a:spcPts val="0"/>
              </a:spcAft>
              <a:defRPr sz="1019" b="0">
                <a:solidFill>
                  <a:srgbClr val="687768"/>
                </a:solidFill>
                <a:latin typeface="Noto Sans"/>
              </a:defRPr>
            </a:pPr>
            <a:r>
              <a:t>05 / ДАННЫЕ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876300"/>
            <a:ext cx="11049000" cy="105537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794"/>
              </a:lnSpc>
              <a:spcBef>
                <a:spcPts val="0"/>
              </a:spcBef>
              <a:spcAft>
                <a:spcPts val="0"/>
              </a:spcAft>
              <a:defRPr sz="3300" b="0">
                <a:solidFill>
                  <a:srgbClr val="203E36"/>
                </a:solidFill>
                <a:latin typeface="Noto Serif"/>
              </a:defRPr>
            </a:pPr>
            <a:r>
              <a:t>Данные собраны автоматически. Пробелы</a:t>
            </a:r>
          </a:p>
          <a:p>
            <a:pPr>
              <a:lnSpc>
                <a:spcPts val="3794"/>
              </a:lnSpc>
              <a:spcBef>
                <a:spcPts val="0"/>
              </a:spcBef>
              <a:spcAft>
                <a:spcPts val="0"/>
              </a:spcAft>
              <a:defRPr sz="3300" b="0">
                <a:solidFill>
                  <a:srgbClr val="203E36"/>
                </a:solidFill>
                <a:latin typeface="Noto Serif"/>
              </a:defRPr>
            </a:pPr>
            <a:r>
              <a:t>измерены.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6446520"/>
            <a:ext cx="8382000" cy="24749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28"/>
              </a:lnSpc>
              <a:spcBef>
                <a:spcPts val="0"/>
              </a:spcBef>
              <a:spcAft>
                <a:spcPts val="0"/>
              </a:spcAft>
              <a:defRPr sz="960" b="0">
                <a:solidFill>
                  <a:srgbClr val="687768"/>
                </a:solidFill>
                <a:latin typeface="Noto Sans"/>
              </a:defRPr>
            </a:pPr>
            <a:r>
              <a:t>BUILD WITH AI · SMART CITY · TRACK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25200" y="6416040"/>
            <a:ext cx="495300" cy="2962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12"/>
              </a:lnSpc>
              <a:spcBef>
                <a:spcPts val="0"/>
              </a:spcBef>
              <a:spcAft>
                <a:spcPts val="0"/>
              </a:spcAft>
              <a:defRPr sz="1260" b="1">
                <a:solidFill>
                  <a:srgbClr val="687768"/>
                </a:solidFill>
                <a:latin typeface="Noto Sans"/>
              </a:defRPr>
            </a:pPr>
            <a:r>
              <a:t>05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3400" y="2209800"/>
            <a:ext cx="3543300" cy="1866900"/>
          </a:xfrm>
          <a:prstGeom prst="roundRect">
            <a:avLst>
              <a:gd name="adj" fmla="val 4000"/>
            </a:avLst>
          </a:prstGeom>
          <a:solidFill>
            <a:srgbClr val="FFF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6760" y="2400300"/>
            <a:ext cx="3048000" cy="9692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6912"/>
              </a:lnSpc>
              <a:spcBef>
                <a:spcPts val="0"/>
              </a:spcBef>
              <a:spcAft>
                <a:spcPts val="0"/>
              </a:spcAft>
              <a:defRPr sz="5400" b="0">
                <a:solidFill>
                  <a:srgbClr val="203E36"/>
                </a:solidFill>
                <a:latin typeface="Noto Serif"/>
              </a:defRPr>
            </a:pPr>
            <a:r>
              <a:t>300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2000" y="3505200"/>
            <a:ext cx="3048000" cy="3450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996"/>
              </a:lnSpc>
              <a:spcBef>
                <a:spcPts val="0"/>
              </a:spcBef>
              <a:spcAft>
                <a:spcPts val="0"/>
              </a:spcAft>
              <a:defRPr sz="1560" b="0">
                <a:solidFill>
                  <a:srgbClr val="687768"/>
                </a:solidFill>
                <a:latin typeface="Noto Sans"/>
              </a:defRPr>
            </a:pPr>
            <a:r>
              <a:t>именованных POI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05300" y="2209800"/>
            <a:ext cx="3543300" cy="1866900"/>
          </a:xfrm>
          <a:prstGeom prst="roundRect">
            <a:avLst>
              <a:gd name="adj" fmla="val 4000"/>
            </a:avLst>
          </a:prstGeom>
          <a:solidFill>
            <a:srgbClr val="FFF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18660" y="2400300"/>
            <a:ext cx="3048000" cy="9692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6912"/>
              </a:lnSpc>
              <a:spcBef>
                <a:spcPts val="0"/>
              </a:spcBef>
              <a:spcAft>
                <a:spcPts val="0"/>
              </a:spcAft>
              <a:defRPr sz="5400" b="0">
                <a:solidFill>
                  <a:srgbClr val="203E36"/>
                </a:solidFill>
                <a:latin typeface="Noto Serif"/>
              </a:defRPr>
            </a:pPr>
            <a:r>
              <a:t>32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33900" y="3505200"/>
            <a:ext cx="3048000" cy="3450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996"/>
              </a:lnSpc>
              <a:spcBef>
                <a:spcPts val="0"/>
              </a:spcBef>
              <a:spcAft>
                <a:spcPts val="0"/>
              </a:spcAft>
              <a:defRPr sz="1560" b="0">
                <a:solidFill>
                  <a:srgbClr val="687768"/>
                </a:solidFill>
                <a:latin typeface="Noto Sans"/>
              </a:defRPr>
            </a:pPr>
            <a:r>
              <a:t>факта из источников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77200" y="2209800"/>
            <a:ext cx="3543300" cy="1866900"/>
          </a:xfrm>
          <a:prstGeom prst="roundRect">
            <a:avLst>
              <a:gd name="adj" fmla="val 4000"/>
            </a:avLst>
          </a:prstGeom>
          <a:solidFill>
            <a:srgbClr val="FFF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90559" y="2400300"/>
            <a:ext cx="3048000" cy="9692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6912"/>
              </a:lnSpc>
              <a:spcBef>
                <a:spcPts val="0"/>
              </a:spcBef>
              <a:spcAft>
                <a:spcPts val="0"/>
              </a:spcAft>
              <a:defRPr sz="5400" b="0">
                <a:solidFill>
                  <a:srgbClr val="203E36"/>
                </a:solidFill>
                <a:latin typeface="Noto Serif"/>
              </a:defRPr>
            </a:pPr>
            <a:r>
              <a:t>19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05800" y="3505200"/>
            <a:ext cx="3048000" cy="3450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996"/>
              </a:lnSpc>
              <a:spcBef>
                <a:spcPts val="0"/>
              </a:spcBef>
              <a:spcAft>
                <a:spcPts val="0"/>
              </a:spcAft>
              <a:defRPr sz="1560" b="0">
                <a:solidFill>
                  <a:srgbClr val="687768"/>
                </a:solidFill>
                <a:latin typeface="Noto Sans"/>
              </a:defRPr>
            </a:pPr>
            <a:r>
              <a:t>мест с обогащением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9120" y="4511040"/>
            <a:ext cx="11049000" cy="4328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688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203E36"/>
                </a:solidFill>
                <a:latin typeface="Noto Serif"/>
              </a:defRPr>
            </a:pPr>
            <a:r>
              <a:t>OSM автоматически + отдельные факты официальных источников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9120" y="5074920"/>
            <a:ext cx="10896600" cy="61813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687768"/>
                </a:solidFill>
                <a:latin typeface="Noto Sans"/>
              </a:defRPr>
            </a:pPr>
            <a:r>
              <a:t>5 районов · 102 записи с часами · 26 тегов доступности. 32 факта о 18 местах.</a:t>
            </a:r>
          </a:p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687768"/>
                </a:solidFill>
                <a:latin typeface="Noto Sans"/>
              </a:defRPr>
            </a:pPr>
            <a:r>
              <a:t>Источники уточнили расписания и исключили места с ограниченным доступом.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79120" y="5966459"/>
            <a:ext cx="11049000" cy="2962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12"/>
              </a:lnSpc>
              <a:spcBef>
                <a:spcPts val="0"/>
              </a:spcBef>
              <a:spcAft>
                <a:spcPts val="0"/>
              </a:spcAft>
              <a:defRPr sz="1260" b="0">
                <a:solidFill>
                  <a:srgbClr val="687768"/>
                </a:solidFill>
                <a:latin typeface="Noto Sans"/>
              </a:defRPr>
            </a:pPr>
            <a:r>
              <a:t>Пять районов: 5 188 пешеходных путей · Снимок 18.10.2026 · © OpenStreetMap contributors / ODbL.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3400" y="320040"/>
            <a:ext cx="4572000" cy="2670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82"/>
              </a:lnSpc>
              <a:spcBef>
                <a:spcPts val="0"/>
              </a:spcBef>
              <a:spcAft>
                <a:spcPts val="0"/>
              </a:spcAft>
              <a:defRPr sz="1080" b="1">
                <a:solidFill>
                  <a:srgbClr val="687768"/>
                </a:solidFill>
                <a:latin typeface="Noto Sans"/>
              </a:defRPr>
            </a:pPr>
            <a:r>
              <a:t>QADAM / ARCSOLO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4800" y="320040"/>
            <a:ext cx="3733800" cy="25725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05"/>
              </a:lnSpc>
              <a:spcBef>
                <a:spcPts val="0"/>
              </a:spcBef>
              <a:spcAft>
                <a:spcPts val="0"/>
              </a:spcAft>
              <a:defRPr sz="1019" b="0">
                <a:solidFill>
                  <a:srgbClr val="687768"/>
                </a:solidFill>
                <a:latin typeface="Noto Sans"/>
              </a:defRPr>
            </a:pPr>
            <a:r>
              <a:t>06 / ПОДХОД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876300"/>
            <a:ext cx="11049000" cy="105537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794"/>
              </a:lnSpc>
              <a:spcBef>
                <a:spcPts val="0"/>
              </a:spcBef>
              <a:spcAft>
                <a:spcPts val="0"/>
              </a:spcAft>
              <a:defRPr sz="3300" b="0">
                <a:solidFill>
                  <a:srgbClr val="203E36"/>
                </a:solidFill>
                <a:latin typeface="Noto Serif"/>
              </a:defRPr>
            </a:pPr>
            <a:r>
              <a:t>RAG: сначала найти и проверить, потом</a:t>
            </a:r>
          </a:p>
          <a:p>
            <a:pPr>
              <a:lnSpc>
                <a:spcPts val="3794"/>
              </a:lnSpc>
              <a:spcBef>
                <a:spcPts val="0"/>
              </a:spcBef>
              <a:spcAft>
                <a:spcPts val="0"/>
              </a:spcAft>
              <a:defRPr sz="3300" b="0">
                <a:solidFill>
                  <a:srgbClr val="203E36"/>
                </a:solidFill>
                <a:latin typeface="Noto Serif"/>
              </a:defRPr>
            </a:pPr>
            <a:r>
              <a:t>предложить.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6446520"/>
            <a:ext cx="8382000" cy="24749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28"/>
              </a:lnSpc>
              <a:spcBef>
                <a:spcPts val="0"/>
              </a:spcBef>
              <a:spcAft>
                <a:spcPts val="0"/>
              </a:spcAft>
              <a:defRPr sz="960" b="0">
                <a:solidFill>
                  <a:srgbClr val="687768"/>
                </a:solidFill>
                <a:latin typeface="Noto Sans"/>
              </a:defRPr>
            </a:pPr>
            <a:r>
              <a:t>BUILD WITH AI · SMART CITY · TRACK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25200" y="6416040"/>
            <a:ext cx="495300" cy="2962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12"/>
              </a:lnSpc>
              <a:spcBef>
                <a:spcPts val="0"/>
              </a:spcBef>
              <a:spcAft>
                <a:spcPts val="0"/>
              </a:spcAft>
              <a:defRPr sz="1260" b="1">
                <a:solidFill>
                  <a:srgbClr val="687768"/>
                </a:solidFill>
                <a:latin typeface="Noto Sans"/>
              </a:defRPr>
            </a:pPr>
            <a:r>
              <a:t>06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3400" y="2286000"/>
            <a:ext cx="2057400" cy="2057400"/>
          </a:xfrm>
          <a:prstGeom prst="roundRect">
            <a:avLst>
              <a:gd name="adj" fmla="val 4000"/>
            </a:avLst>
          </a:prstGeom>
          <a:solidFill>
            <a:srgbClr val="FFF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8660" y="2491740"/>
            <a:ext cx="1676400" cy="32552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843"/>
              </a:lnSpc>
              <a:spcBef>
                <a:spcPts val="0"/>
              </a:spcBef>
              <a:spcAft>
                <a:spcPts val="0"/>
              </a:spcAft>
              <a:defRPr sz="1439" b="0">
                <a:solidFill>
                  <a:srgbClr val="203E36"/>
                </a:solidFill>
                <a:latin typeface="Noto Sans"/>
              </a:defRPr>
            </a:pPr>
            <a: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8660" y="2964179"/>
            <a:ext cx="1752600" cy="3938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380"/>
              </a:lnSpc>
              <a:spcBef>
                <a:spcPts val="0"/>
              </a:spcBef>
              <a:spcAft>
                <a:spcPts val="0"/>
              </a:spcAft>
              <a:defRPr sz="1859" b="0">
                <a:solidFill>
                  <a:srgbClr val="203E36"/>
                </a:solidFill>
                <a:latin typeface="Noto Serif"/>
              </a:defRPr>
            </a:pPr>
            <a:r>
              <a:t>POI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8660" y="3520440"/>
            <a:ext cx="1752600" cy="52059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89"/>
              </a:lnSpc>
              <a:spcBef>
                <a:spcPts val="0"/>
              </a:spcBef>
              <a:spcAft>
                <a:spcPts val="0"/>
              </a:spcAft>
              <a:defRPr sz="1320" b="0">
                <a:solidFill>
                  <a:srgbClr val="687768"/>
                </a:solidFill>
                <a:latin typeface="Noto Sans"/>
              </a:defRPr>
            </a:pPr>
            <a:r>
              <a:t>Реальный снимок</a:t>
            </a:r>
          </a:p>
          <a:p>
            <a:pPr>
              <a:lnSpc>
                <a:spcPts val="1689"/>
              </a:lnSpc>
              <a:spcBef>
                <a:spcPts val="0"/>
              </a:spcBef>
              <a:spcAft>
                <a:spcPts val="0"/>
              </a:spcAft>
              <a:defRPr sz="1320" b="0">
                <a:solidFill>
                  <a:srgbClr val="687768"/>
                </a:solidFill>
                <a:latin typeface="Noto Sans"/>
              </a:defRPr>
            </a:pPr>
            <a:r>
              <a:t>и источники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81300" y="2286000"/>
            <a:ext cx="2057400" cy="2057400"/>
          </a:xfrm>
          <a:prstGeom prst="roundRect">
            <a:avLst>
              <a:gd name="adj" fmla="val 4000"/>
            </a:avLst>
          </a:prstGeom>
          <a:solidFill>
            <a:srgbClr val="FFF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56560" y="2491740"/>
            <a:ext cx="1676400" cy="32552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843"/>
              </a:lnSpc>
              <a:spcBef>
                <a:spcPts val="0"/>
              </a:spcBef>
              <a:spcAft>
                <a:spcPts val="0"/>
              </a:spcAft>
              <a:defRPr sz="1439" b="0">
                <a:solidFill>
                  <a:srgbClr val="203E36"/>
                </a:solidFill>
                <a:latin typeface="Noto Sans"/>
              </a:defRPr>
            </a:pPr>
            <a: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56560" y="2964179"/>
            <a:ext cx="1752600" cy="3938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380"/>
              </a:lnSpc>
              <a:spcBef>
                <a:spcPts val="0"/>
              </a:spcBef>
              <a:spcAft>
                <a:spcPts val="0"/>
              </a:spcAft>
              <a:defRPr sz="1859" b="0">
                <a:solidFill>
                  <a:srgbClr val="203E36"/>
                </a:solidFill>
                <a:latin typeface="Noto Serif"/>
              </a:defRPr>
            </a:pPr>
            <a:r>
              <a:t>Поиск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56560" y="3520440"/>
            <a:ext cx="1752600" cy="52059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89"/>
              </a:lnSpc>
              <a:spcBef>
                <a:spcPts val="0"/>
              </a:spcBef>
              <a:spcAft>
                <a:spcPts val="0"/>
              </a:spcAft>
              <a:defRPr sz="1320" b="0">
                <a:solidFill>
                  <a:srgbClr val="687768"/>
                </a:solidFill>
                <a:latin typeface="Noto Sans"/>
              </a:defRPr>
            </a:pPr>
            <a:r>
              <a:t>BM25 + понятия</a:t>
            </a:r>
          </a:p>
          <a:p>
            <a:pPr>
              <a:lnSpc>
                <a:spcPts val="1689"/>
              </a:lnSpc>
              <a:spcBef>
                <a:spcPts val="0"/>
              </a:spcBef>
              <a:spcAft>
                <a:spcPts val="0"/>
              </a:spcAft>
              <a:defRPr sz="1320" b="0">
                <a:solidFill>
                  <a:srgbClr val="687768"/>
                </a:solidFill>
                <a:latin typeface="Noto Sans"/>
              </a:defRPr>
            </a:pPr>
            <a:r>
              <a:t>на трёх языках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0" y="2286000"/>
            <a:ext cx="2057400" cy="2057400"/>
          </a:xfrm>
          <a:prstGeom prst="roundRect">
            <a:avLst>
              <a:gd name="adj" fmla="val 4000"/>
            </a:avLst>
          </a:prstGeom>
          <a:solidFill>
            <a:srgbClr val="FFF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204460" y="2491740"/>
            <a:ext cx="1676400" cy="32552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843"/>
              </a:lnSpc>
              <a:spcBef>
                <a:spcPts val="0"/>
              </a:spcBef>
              <a:spcAft>
                <a:spcPts val="0"/>
              </a:spcAft>
              <a:defRPr sz="1439" b="0">
                <a:solidFill>
                  <a:srgbClr val="203E36"/>
                </a:solidFill>
                <a:latin typeface="Noto Sans"/>
              </a:defRPr>
            </a:pPr>
            <a: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04460" y="2964179"/>
            <a:ext cx="1752600" cy="3938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380"/>
              </a:lnSpc>
              <a:spcBef>
                <a:spcPts val="0"/>
              </a:spcBef>
              <a:spcAft>
                <a:spcPts val="0"/>
              </a:spcAft>
              <a:defRPr sz="1859" b="0">
                <a:solidFill>
                  <a:srgbClr val="203E36"/>
                </a:solidFill>
                <a:latin typeface="Noto Serif"/>
              </a:defRPr>
            </a:pPr>
            <a:r>
              <a:t>Ограничения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04460" y="3520440"/>
            <a:ext cx="1752600" cy="52059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89"/>
              </a:lnSpc>
              <a:spcBef>
                <a:spcPts val="0"/>
              </a:spcBef>
              <a:spcAft>
                <a:spcPts val="0"/>
              </a:spcAft>
              <a:defRPr sz="1320" b="0">
                <a:solidFill>
                  <a:srgbClr val="687768"/>
                </a:solidFill>
                <a:latin typeface="Noto Sans"/>
              </a:defRPr>
            </a:pPr>
            <a:r>
              <a:t>Дорога, время,</a:t>
            </a:r>
          </a:p>
          <a:p>
            <a:pPr>
              <a:lnSpc>
                <a:spcPts val="1689"/>
              </a:lnSpc>
              <a:spcBef>
                <a:spcPts val="0"/>
              </a:spcBef>
              <a:spcAft>
                <a:spcPts val="0"/>
              </a:spcAft>
              <a:defRPr sz="1320" b="0">
                <a:solidFill>
                  <a:srgbClr val="687768"/>
                </a:solidFill>
                <a:latin typeface="Noto Sans"/>
              </a:defRPr>
            </a:pPr>
            <a:r>
              <a:t>часы и доступность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277100" y="2286000"/>
            <a:ext cx="2057400" cy="2057400"/>
          </a:xfrm>
          <a:prstGeom prst="roundRect">
            <a:avLst>
              <a:gd name="adj" fmla="val 4000"/>
            </a:avLst>
          </a:prstGeom>
          <a:solidFill>
            <a:srgbClr val="203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52359" y="2491740"/>
            <a:ext cx="1676400" cy="32552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843"/>
              </a:lnSpc>
              <a:spcBef>
                <a:spcPts val="0"/>
              </a:spcBef>
              <a:spcAft>
                <a:spcPts val="0"/>
              </a:spcAft>
              <a:defRPr sz="1439" b="0">
                <a:solidFill>
                  <a:srgbClr val="D6ED92"/>
                </a:solidFill>
                <a:latin typeface="Noto Sans"/>
              </a:defRPr>
            </a:pPr>
            <a: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52359" y="2964179"/>
            <a:ext cx="1752600" cy="3938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380"/>
              </a:lnSpc>
              <a:spcBef>
                <a:spcPts val="0"/>
              </a:spcBef>
              <a:spcAft>
                <a:spcPts val="0"/>
              </a:spcAft>
              <a:defRPr sz="1859" b="0">
                <a:solidFill>
                  <a:srgbClr val="D6ED92"/>
                </a:solidFill>
                <a:latin typeface="Noto Serif"/>
              </a:defRPr>
            </a:pPr>
            <a:r>
              <a:t>Gemini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52359" y="3520440"/>
            <a:ext cx="1752600" cy="52059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89"/>
              </a:lnSpc>
              <a:spcBef>
                <a:spcPts val="0"/>
              </a:spcBef>
              <a:spcAft>
                <a:spcPts val="0"/>
              </a:spcAft>
              <a:defRPr sz="1320" b="0">
                <a:solidFill>
                  <a:srgbClr val="C4D1C0"/>
                </a:solidFill>
                <a:latin typeface="Noto Sans"/>
              </a:defRPr>
            </a:pPr>
            <a:r>
              <a:t>Объяснение, идея</a:t>
            </a:r>
          </a:p>
          <a:p>
            <a:pPr>
              <a:lnSpc>
                <a:spcPts val="1689"/>
              </a:lnSpc>
              <a:spcBef>
                <a:spcPts val="0"/>
              </a:spcBef>
              <a:spcAft>
                <a:spcPts val="0"/>
              </a:spcAft>
              <a:defRPr sz="1320" b="0">
                <a:solidFill>
                  <a:srgbClr val="C4D1C0"/>
                </a:solidFill>
                <a:latin typeface="Noto Sans"/>
              </a:defRPr>
            </a:pPr>
            <a:r>
              <a:t>и маленькая миссия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525000" y="2286000"/>
            <a:ext cx="2057400" cy="2057400"/>
          </a:xfrm>
          <a:prstGeom prst="roundRect">
            <a:avLst>
              <a:gd name="adj" fmla="val 4000"/>
            </a:avLst>
          </a:prstGeom>
          <a:solidFill>
            <a:srgbClr val="FFF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700260" y="2491740"/>
            <a:ext cx="1676400" cy="32552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843"/>
              </a:lnSpc>
              <a:spcBef>
                <a:spcPts val="0"/>
              </a:spcBef>
              <a:spcAft>
                <a:spcPts val="0"/>
              </a:spcAft>
              <a:defRPr sz="1439" b="0">
                <a:solidFill>
                  <a:srgbClr val="203E36"/>
                </a:solidFill>
                <a:latin typeface="Noto Sans"/>
              </a:defRPr>
            </a:pPr>
            <a:r>
              <a:t>05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00260" y="2964179"/>
            <a:ext cx="1752600" cy="3938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380"/>
              </a:lnSpc>
              <a:spcBef>
                <a:spcPts val="0"/>
              </a:spcBef>
              <a:spcAft>
                <a:spcPts val="0"/>
              </a:spcAft>
              <a:defRPr sz="1859" b="0">
                <a:solidFill>
                  <a:srgbClr val="203E36"/>
                </a:solidFill>
                <a:latin typeface="Noto Serif"/>
              </a:defRPr>
            </a:pPr>
            <a:r>
              <a:t>Проверка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00260" y="3520440"/>
            <a:ext cx="1752600" cy="73517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89"/>
              </a:lnSpc>
              <a:spcBef>
                <a:spcPts val="0"/>
              </a:spcBef>
              <a:spcAft>
                <a:spcPts val="0"/>
              </a:spcAft>
              <a:defRPr sz="1320" b="0">
                <a:solidFill>
                  <a:srgbClr val="687768"/>
                </a:solidFill>
                <a:latin typeface="Noto Sans"/>
              </a:defRPr>
            </a:pPr>
            <a:r>
              <a:t>ID мест и цитат,</a:t>
            </a:r>
          </a:p>
          <a:p>
            <a:pPr>
              <a:lnSpc>
                <a:spcPts val="1689"/>
              </a:lnSpc>
              <a:spcBef>
                <a:spcPts val="0"/>
              </a:spcBef>
              <a:spcAft>
                <a:spcPts val="0"/>
              </a:spcAft>
              <a:defRPr sz="1320" b="0">
                <a:solidFill>
                  <a:srgbClr val="687768"/>
                </a:solidFill>
                <a:latin typeface="Noto Sans"/>
              </a:defRPr>
            </a:pPr>
            <a:r>
              <a:t>формат и</a:t>
            </a:r>
          </a:p>
          <a:p>
            <a:pPr>
              <a:lnSpc>
                <a:spcPts val="1689"/>
              </a:lnSpc>
              <a:spcBef>
                <a:spcPts val="0"/>
              </a:spcBef>
              <a:spcAft>
                <a:spcPts val="0"/>
              </a:spcAft>
              <a:defRPr sz="1320" b="0">
                <a:solidFill>
                  <a:srgbClr val="687768"/>
                </a:solidFill>
                <a:latin typeface="Noto Sans"/>
              </a:defRPr>
            </a:pPr>
            <a:r>
              <a:t>ограничения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71500" y="4762500"/>
            <a:ext cx="10972800" cy="37429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27"/>
              </a:lnSpc>
              <a:spcBef>
                <a:spcPts val="0"/>
              </a:spcBef>
              <a:spcAft>
                <a:spcPts val="0"/>
              </a:spcAft>
              <a:defRPr sz="1739" b="0">
                <a:solidFill>
                  <a:srgbClr val="203E36"/>
                </a:solidFill>
                <a:latin typeface="Noto Sans"/>
              </a:defRPr>
            </a:pPr>
            <a:r>
              <a:t>Живой Gemini — локально и в видео; публичное демо без платной генерации.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71500" y="5311140"/>
            <a:ext cx="10972800" cy="59862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996"/>
              </a:lnSpc>
              <a:spcBef>
                <a:spcPts val="0"/>
              </a:spcBef>
              <a:spcAft>
                <a:spcPts val="0"/>
              </a:spcAft>
              <a:defRPr sz="1560" b="0">
                <a:solidFill>
                  <a:srgbClr val="687768"/>
                </a:solidFill>
                <a:latin typeface="Noto Sans"/>
              </a:defRPr>
            </a:pPr>
            <a:r>
              <a:t>Факты, маршруты и часы храним отдельно от сгенерированных советов.</a:t>
            </a:r>
          </a:p>
          <a:p>
            <a:pPr>
              <a:lnSpc>
                <a:spcPts val="1996"/>
              </a:lnSpc>
              <a:spcBef>
                <a:spcPts val="0"/>
              </a:spcBef>
              <a:spcAft>
                <a:spcPts val="0"/>
              </a:spcAft>
              <a:defRPr sz="1560" b="0">
                <a:solidFill>
                  <a:srgbClr val="687768"/>
                </a:solidFill>
                <a:latin typeface="Noto Sans"/>
              </a:defRPr>
            </a:pPr>
            <a:r>
              <a:t>Проверка ссылок не доказывает истинность каждой фразы. При ошибке — шаблоны.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3400" y="320040"/>
            <a:ext cx="4572000" cy="2670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82"/>
              </a:lnSpc>
              <a:spcBef>
                <a:spcPts val="0"/>
              </a:spcBef>
              <a:spcAft>
                <a:spcPts val="0"/>
              </a:spcAft>
              <a:defRPr sz="1080" b="1">
                <a:solidFill>
                  <a:srgbClr val="687768"/>
                </a:solidFill>
                <a:latin typeface="Noto Sans"/>
              </a:defRPr>
            </a:pPr>
            <a:r>
              <a:t>QADAM / ARCSOLO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4800" y="320040"/>
            <a:ext cx="3733800" cy="25725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05"/>
              </a:lnSpc>
              <a:spcBef>
                <a:spcPts val="0"/>
              </a:spcBef>
              <a:spcAft>
                <a:spcPts val="0"/>
              </a:spcAft>
              <a:defRPr sz="1019" b="0">
                <a:solidFill>
                  <a:srgbClr val="687768"/>
                </a:solidFill>
                <a:latin typeface="Noto Sans"/>
              </a:defRPr>
            </a:pPr>
            <a:r>
              <a:t>07 / ИДЁМ ВМЕСТЕ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876300"/>
            <a:ext cx="11049000" cy="5734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794"/>
              </a:lnSpc>
              <a:spcBef>
                <a:spcPts val="0"/>
              </a:spcBef>
              <a:spcAft>
                <a:spcPts val="0"/>
              </a:spcAft>
              <a:defRPr sz="3300" b="0">
                <a:solidFill>
                  <a:srgbClr val="203E36"/>
                </a:solidFill>
                <a:latin typeface="Noto Serif"/>
              </a:defRPr>
            </a:pPr>
            <a:r>
              <a:t>Кафе недоступно. Потеряли 15 минут. Что дальше?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6446520"/>
            <a:ext cx="8382000" cy="24749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28"/>
              </a:lnSpc>
              <a:spcBef>
                <a:spcPts val="0"/>
              </a:spcBef>
              <a:spcAft>
                <a:spcPts val="0"/>
              </a:spcAft>
              <a:defRPr sz="960" b="0">
                <a:solidFill>
                  <a:srgbClr val="687768"/>
                </a:solidFill>
                <a:latin typeface="Noto Sans"/>
              </a:defRPr>
            </a:pPr>
            <a:r>
              <a:t>BUILD WITH AI · SMART CITY · TRACK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25200" y="6416040"/>
            <a:ext cx="495300" cy="2962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12"/>
              </a:lnSpc>
              <a:spcBef>
                <a:spcPts val="0"/>
              </a:spcBef>
              <a:spcAft>
                <a:spcPts val="0"/>
              </a:spcAft>
              <a:defRPr sz="1260" b="1">
                <a:solidFill>
                  <a:srgbClr val="687768"/>
                </a:solidFill>
                <a:latin typeface="Noto Sans"/>
              </a:defRPr>
            </a:pPr>
            <a:r>
              <a:t>07</a:t>
            </a:r>
          </a:p>
        </p:txBody>
      </p:sp>
      <p:pic>
        <p:nvPicPr>
          <p:cNvPr id="8" name="Picture 7" descr="compan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2019300"/>
            <a:ext cx="4291537" cy="41148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38900" y="2209800"/>
            <a:ext cx="5067300" cy="4718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995"/>
              </a:lnSpc>
              <a:spcBef>
                <a:spcPts val="0"/>
              </a:spcBef>
              <a:spcAft>
                <a:spcPts val="0"/>
              </a:spcAft>
              <a:defRPr sz="2340" b="0">
                <a:solidFill>
                  <a:srgbClr val="203E36"/>
                </a:solidFill>
                <a:latin typeface="Noto Serif"/>
              </a:defRPr>
            </a:pPr>
            <a:r>
              <a:t>Тот же срок. Новая точка.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38900" y="2705100"/>
            <a:ext cx="4991100" cy="9400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27"/>
              </a:lnSpc>
              <a:spcBef>
                <a:spcPts val="0"/>
              </a:spcBef>
              <a:spcAft>
                <a:spcPts val="0"/>
              </a:spcAft>
              <a:defRPr sz="1739" b="0">
                <a:solidFill>
                  <a:srgbClr val="687768"/>
                </a:solidFill>
                <a:latin typeface="Noto Sans"/>
              </a:defRPr>
            </a:pPr>
            <a:r>
              <a:t>Остаток маршрута пересчитан от</a:t>
            </a:r>
          </a:p>
          <a:p>
            <a:pPr>
              <a:lnSpc>
                <a:spcPts val="2227"/>
              </a:lnSpc>
              <a:spcBef>
                <a:spcPts val="0"/>
              </a:spcBef>
              <a:spcAft>
                <a:spcPts val="0"/>
              </a:spcAft>
              <a:defRPr sz="1739" b="0">
                <a:solidFill>
                  <a:srgbClr val="687768"/>
                </a:solidFill>
                <a:latin typeface="Noto Sans"/>
              </a:defRPr>
            </a:pPr>
            <a:r>
              <a:t>подтверждённого места. Возвращение — к</a:t>
            </a:r>
          </a:p>
          <a:p>
            <a:pPr>
              <a:lnSpc>
                <a:spcPts val="2227"/>
              </a:lnSpc>
              <a:spcBef>
                <a:spcPts val="0"/>
              </a:spcBef>
              <a:spcAft>
                <a:spcPts val="0"/>
              </a:spcAft>
              <a:defRPr sz="1739" b="0">
                <a:solidFill>
                  <a:srgbClr val="687768"/>
                </a:solidFill>
                <a:latin typeface="Noto Sans"/>
              </a:defRPr>
            </a:pPr>
            <a:r>
              <a:t>исходному старту.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38900" y="3771900"/>
            <a:ext cx="5067300" cy="4328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688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203E36"/>
                </a:solidFill>
                <a:latin typeface="Noto Serif"/>
              </a:defRPr>
            </a:pPr>
            <a:r>
              <a:t>Запас не исчезает молча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38900" y="4229100"/>
            <a:ext cx="4991100" cy="63764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50"/>
              </a:lnSpc>
              <a:spcBef>
                <a:spcPts val="0"/>
              </a:spcBef>
              <a:spcAft>
                <a:spcPts val="0"/>
              </a:spcAft>
              <a:defRPr sz="1680" b="0">
                <a:solidFill>
                  <a:srgbClr val="687768"/>
                </a:solidFill>
                <a:latin typeface="Noto Sans"/>
              </a:defRPr>
            </a:pPr>
            <a:r>
              <a:t>Если уже не успеваем, видны опоздание и</a:t>
            </a:r>
          </a:p>
          <a:p>
            <a:pPr>
              <a:lnSpc>
                <a:spcPts val="2150"/>
              </a:lnSpc>
              <a:spcBef>
                <a:spcPts val="0"/>
              </a:spcBef>
              <a:spcAft>
                <a:spcPts val="0"/>
              </a:spcAft>
              <a:defRPr sz="1680" b="0">
                <a:solidFill>
                  <a:srgbClr val="687768"/>
                </a:solidFill>
                <a:latin typeface="Noto Sans"/>
              </a:defRPr>
            </a:pPr>
            <a:r>
              <a:t>нехватка резерва. Можно сразу возвращаться.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38900" y="5295900"/>
            <a:ext cx="5067300" cy="3938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380"/>
              </a:lnSpc>
              <a:spcBef>
                <a:spcPts val="0"/>
              </a:spcBef>
              <a:spcAft>
                <a:spcPts val="0"/>
              </a:spcAft>
              <a:defRPr sz="1859" b="0">
                <a:solidFill>
                  <a:srgbClr val="203E36"/>
                </a:solidFill>
                <a:latin typeface="Noto Serif"/>
              </a:defRPr>
            </a:pPr>
            <a:r>
              <a:t>Для жюри — явная репетиция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38900" y="5676900"/>
            <a:ext cx="4953000" cy="55961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843"/>
              </a:lnSpc>
              <a:spcBef>
                <a:spcPts val="0"/>
              </a:spcBef>
              <a:spcAft>
                <a:spcPts val="0"/>
              </a:spcAft>
              <a:defRPr sz="1439" b="0">
                <a:solidFill>
                  <a:srgbClr val="687768"/>
                </a:solidFill>
                <a:latin typeface="Noto Sans"/>
              </a:defRPr>
            </a:pPr>
            <a:r>
              <a:t>Для прогулки — часы устройства и ручное</a:t>
            </a:r>
          </a:p>
          <a:p>
            <a:pPr>
              <a:lnSpc>
                <a:spcPts val="1843"/>
              </a:lnSpc>
              <a:spcBef>
                <a:spcPts val="0"/>
              </a:spcBef>
              <a:spcAft>
                <a:spcPts val="0"/>
              </a:spcAft>
              <a:defRPr sz="1439" b="0">
                <a:solidFill>
                  <a:srgbClr val="687768"/>
                </a:solidFill>
                <a:latin typeface="Noto Sans"/>
              </a:defRPr>
            </a:pPr>
            <a:r>
              <a:t>подтверждение. Без фонового GPS.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3400" y="320040"/>
            <a:ext cx="4572000" cy="2670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82"/>
              </a:lnSpc>
              <a:spcBef>
                <a:spcPts val="0"/>
              </a:spcBef>
              <a:spcAft>
                <a:spcPts val="0"/>
              </a:spcAft>
              <a:defRPr sz="1080" b="1">
                <a:solidFill>
                  <a:srgbClr val="687768"/>
                </a:solidFill>
                <a:latin typeface="Noto Sans"/>
              </a:defRPr>
            </a:pPr>
            <a:r>
              <a:t>QADAM / ARCSOLO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4800" y="320040"/>
            <a:ext cx="3733800" cy="25725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05"/>
              </a:lnSpc>
              <a:spcBef>
                <a:spcPts val="0"/>
              </a:spcBef>
              <a:spcAft>
                <a:spcPts val="0"/>
              </a:spcAft>
              <a:defRPr sz="1019" b="0">
                <a:solidFill>
                  <a:srgbClr val="687768"/>
                </a:solidFill>
                <a:latin typeface="Noto Sans"/>
              </a:defRPr>
            </a:pPr>
            <a:r>
              <a:t>08 / ЭТИКА И ПРИВАТНОСТЬ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876300"/>
            <a:ext cx="11049000" cy="5734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794"/>
              </a:lnSpc>
              <a:spcBef>
                <a:spcPts val="0"/>
              </a:spcBef>
              <a:spcAft>
                <a:spcPts val="0"/>
              </a:spcAft>
              <a:defRPr sz="3300" b="0">
                <a:solidFill>
                  <a:srgbClr val="203E36"/>
                </a:solidFill>
                <a:latin typeface="Noto Serif"/>
              </a:defRPr>
            </a:pPr>
            <a:r>
              <a:t>Доверие — это видимое «не знаем».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6446520"/>
            <a:ext cx="8382000" cy="24749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28"/>
              </a:lnSpc>
              <a:spcBef>
                <a:spcPts val="0"/>
              </a:spcBef>
              <a:spcAft>
                <a:spcPts val="0"/>
              </a:spcAft>
              <a:defRPr sz="960" b="0">
                <a:solidFill>
                  <a:srgbClr val="687768"/>
                </a:solidFill>
                <a:latin typeface="Noto Sans"/>
              </a:defRPr>
            </a:pPr>
            <a:r>
              <a:t>BUILD WITH AI · SMART CITY · TRACK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25200" y="6416040"/>
            <a:ext cx="495300" cy="2962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12"/>
              </a:lnSpc>
              <a:spcBef>
                <a:spcPts val="0"/>
              </a:spcBef>
              <a:spcAft>
                <a:spcPts val="0"/>
              </a:spcAft>
              <a:defRPr sz="1260" b="1">
                <a:solidFill>
                  <a:srgbClr val="687768"/>
                </a:solidFill>
                <a:latin typeface="Noto Sans"/>
              </a:defRPr>
            </a:pPr>
            <a:r>
              <a:t>08</a:t>
            </a:r>
          </a:p>
        </p:txBody>
      </p:sp>
      <p:pic>
        <p:nvPicPr>
          <p:cNvPr id="8" name="Picture 7" descr="coff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2133600"/>
            <a:ext cx="6400800" cy="302128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429500" y="2171700"/>
            <a:ext cx="3962400" cy="46207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918"/>
              </a:lnSpc>
              <a:spcBef>
                <a:spcPts val="0"/>
              </a:spcBef>
              <a:spcAft>
                <a:spcPts val="0"/>
              </a:spcAft>
              <a:defRPr sz="2280" b="0">
                <a:solidFill>
                  <a:srgbClr val="203E36"/>
                </a:solidFill>
                <a:latin typeface="Noto Serif"/>
              </a:defRPr>
            </a:pPr>
            <a:r>
              <a:t>Факты и идеи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29500" y="2651760"/>
            <a:ext cx="3886200" cy="61813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687768"/>
                </a:solidFill>
                <a:latin typeface="Noto Sans"/>
              </a:defRPr>
            </a:pPr>
            <a:r>
              <a:t>Источник POI отделён от</a:t>
            </a:r>
          </a:p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687768"/>
                </a:solidFill>
                <a:latin typeface="Noto Sans"/>
              </a:defRPr>
            </a:pPr>
            <a:r>
              <a:t>предложения, что сделать.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29500" y="3543300"/>
            <a:ext cx="3962400" cy="46207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918"/>
              </a:lnSpc>
              <a:spcBef>
                <a:spcPts val="0"/>
              </a:spcBef>
              <a:spcAft>
                <a:spcPts val="0"/>
              </a:spcAft>
              <a:defRPr sz="2280" b="0">
                <a:solidFill>
                  <a:srgbClr val="203E36"/>
                </a:solidFill>
                <a:latin typeface="Noto Serif"/>
              </a:defRPr>
            </a:pPr>
            <a:r>
              <a:t>Локация без истории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29500" y="4038600"/>
            <a:ext cx="3886200" cy="88148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687768"/>
                </a:solidFill>
                <a:latin typeface="Noto Sans"/>
              </a:defRPr>
            </a:pPr>
            <a:r>
              <a:t>Расчёт в браузере. Точные</a:t>
            </a:r>
          </a:p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687768"/>
                </a:solidFill>
                <a:latin typeface="Noto Sans"/>
              </a:defRPr>
            </a:pPr>
            <a:r>
              <a:t>координаты и исходный запрос не</a:t>
            </a:r>
          </a:p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687768"/>
                </a:solidFill>
                <a:latin typeface="Noto Sans"/>
              </a:defRPr>
            </a:pPr>
            <a:r>
              <a:t>отправляются в Gemini.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1500" y="5806440"/>
            <a:ext cx="10972800" cy="3450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996"/>
              </a:lnSpc>
              <a:spcBef>
                <a:spcPts val="0"/>
              </a:spcBef>
              <a:spcAft>
                <a:spcPts val="0"/>
              </a:spcAft>
              <a:defRPr sz="1560" b="0">
                <a:solidFill>
                  <a:srgbClr val="91652D"/>
                </a:solidFill>
                <a:latin typeface="Noto Sans"/>
              </a:defRPr>
            </a:pPr>
            <a:r>
              <a:t>Никаких обещаний о тишине, розетках, ночной безопасности или маршруте без ступеней без данных.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3400" y="320040"/>
            <a:ext cx="4572000" cy="2670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82"/>
              </a:lnSpc>
              <a:spcBef>
                <a:spcPts val="0"/>
              </a:spcBef>
              <a:spcAft>
                <a:spcPts val="0"/>
              </a:spcAft>
              <a:defRPr sz="1080" b="1">
                <a:solidFill>
                  <a:srgbClr val="687768"/>
                </a:solidFill>
                <a:latin typeface="Noto Sans"/>
              </a:defRPr>
            </a:pPr>
            <a:r>
              <a:t>QADAM / ARCSOLO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4800" y="320040"/>
            <a:ext cx="3733800" cy="25725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05"/>
              </a:lnSpc>
              <a:spcBef>
                <a:spcPts val="0"/>
              </a:spcBef>
              <a:spcAft>
                <a:spcPts val="0"/>
              </a:spcAft>
              <a:defRPr sz="1019" b="0">
                <a:solidFill>
                  <a:srgbClr val="687768"/>
                </a:solidFill>
                <a:latin typeface="Noto Sans"/>
              </a:defRPr>
            </a:pPr>
            <a:r>
              <a:t>09 / ПРОВЕРКА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876300"/>
            <a:ext cx="11049000" cy="5734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794"/>
              </a:lnSpc>
              <a:spcBef>
                <a:spcPts val="0"/>
              </a:spcBef>
              <a:spcAft>
                <a:spcPts val="0"/>
              </a:spcAft>
              <a:defRPr sz="3300" b="0">
                <a:solidFill>
                  <a:srgbClr val="203E36"/>
                </a:solidFill>
                <a:latin typeface="Noto Serif"/>
              </a:defRPr>
            </a:pPr>
            <a:r>
              <a:t>Проверили поведение, а не только красивый экран.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6446520"/>
            <a:ext cx="8382000" cy="24749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28"/>
              </a:lnSpc>
              <a:spcBef>
                <a:spcPts val="0"/>
              </a:spcBef>
              <a:spcAft>
                <a:spcPts val="0"/>
              </a:spcAft>
              <a:defRPr sz="960" b="0">
                <a:solidFill>
                  <a:srgbClr val="687768"/>
                </a:solidFill>
                <a:latin typeface="Noto Sans"/>
              </a:defRPr>
            </a:pPr>
            <a:r>
              <a:t>BUILD WITH AI · SMART CITY · TRACK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25200" y="6416040"/>
            <a:ext cx="495300" cy="2962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12"/>
              </a:lnSpc>
              <a:spcBef>
                <a:spcPts val="0"/>
              </a:spcBef>
              <a:spcAft>
                <a:spcPts val="0"/>
              </a:spcAft>
              <a:defRPr sz="1260" b="1">
                <a:solidFill>
                  <a:srgbClr val="687768"/>
                </a:solidFill>
                <a:latin typeface="Noto Sans"/>
              </a:defRPr>
            </a:pPr>
            <a:r>
              <a:t>09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3400" y="2095500"/>
            <a:ext cx="5448300" cy="1638300"/>
          </a:xfrm>
          <a:prstGeom prst="roundRect">
            <a:avLst>
              <a:gd name="adj" fmla="val 4000"/>
            </a:avLst>
          </a:prstGeom>
          <a:solidFill>
            <a:srgbClr val="FFF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2000" y="2247900"/>
            <a:ext cx="4876800" cy="86197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6067"/>
              </a:lnSpc>
              <a:spcBef>
                <a:spcPts val="0"/>
              </a:spcBef>
              <a:spcAft>
                <a:spcPts val="0"/>
              </a:spcAft>
              <a:defRPr sz="4740" b="0">
                <a:solidFill>
                  <a:srgbClr val="203E36"/>
                </a:solidFill>
                <a:latin typeface="Noto Serif"/>
              </a:defRPr>
            </a:pPr>
            <a:r>
              <a:t>103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2480" y="3177540"/>
            <a:ext cx="4876800" cy="35478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687768"/>
                </a:solidFill>
                <a:latin typeface="Noto Sans"/>
              </a:defRPr>
            </a:pPr>
            <a:r>
              <a:t>тестов движка, API и Worker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0300" y="2095500"/>
            <a:ext cx="5448300" cy="1638300"/>
          </a:xfrm>
          <a:prstGeom prst="roundRect">
            <a:avLst>
              <a:gd name="adj" fmla="val 4000"/>
            </a:avLst>
          </a:prstGeom>
          <a:solidFill>
            <a:srgbClr val="FFF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38900" y="2247900"/>
            <a:ext cx="4876800" cy="86197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6067"/>
              </a:lnSpc>
              <a:spcBef>
                <a:spcPts val="0"/>
              </a:spcBef>
              <a:spcAft>
                <a:spcPts val="0"/>
              </a:spcAft>
              <a:defRPr sz="4740" b="0">
                <a:solidFill>
                  <a:srgbClr val="203E36"/>
                </a:solidFill>
                <a:latin typeface="Noto Serif"/>
              </a:defRPr>
            </a:pPr>
            <a:r>
              <a:t>160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69380" y="3177540"/>
            <a:ext cx="4876800" cy="35478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687768"/>
                </a:solidFill>
                <a:latin typeface="Noto Sans"/>
              </a:defRPr>
            </a:pPr>
            <a:r>
              <a:t>комбинаций ограничений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3400" y="3962400"/>
            <a:ext cx="5448300" cy="1638300"/>
          </a:xfrm>
          <a:prstGeom prst="roundRect">
            <a:avLst>
              <a:gd name="adj" fmla="val 4000"/>
            </a:avLst>
          </a:prstGeom>
          <a:solidFill>
            <a:srgbClr val="FFF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2000" y="4114800"/>
            <a:ext cx="4876800" cy="86197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6067"/>
              </a:lnSpc>
              <a:spcBef>
                <a:spcPts val="0"/>
              </a:spcBef>
              <a:spcAft>
                <a:spcPts val="0"/>
              </a:spcAft>
              <a:defRPr sz="4740" b="0">
                <a:solidFill>
                  <a:srgbClr val="203E36"/>
                </a:solidFill>
                <a:latin typeface="Noto Serif"/>
              </a:defRPr>
            </a:pPr>
            <a:r>
              <a:t>25 / 25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2480" y="5044440"/>
            <a:ext cx="4876800" cy="35478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687768"/>
                </a:solidFill>
                <a:latin typeface="Noto Sans"/>
              </a:defRPr>
            </a:pPr>
            <a:r>
              <a:t>приёмочных сценариев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0300" y="3962400"/>
            <a:ext cx="5448300" cy="1638300"/>
          </a:xfrm>
          <a:prstGeom prst="roundRect">
            <a:avLst>
              <a:gd name="adj" fmla="val 4000"/>
            </a:avLst>
          </a:prstGeom>
          <a:solidFill>
            <a:srgbClr val="FFF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38900" y="4114800"/>
            <a:ext cx="4876800" cy="86197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6067"/>
              </a:lnSpc>
              <a:spcBef>
                <a:spcPts val="0"/>
              </a:spcBef>
              <a:spcAft>
                <a:spcPts val="0"/>
              </a:spcAft>
              <a:defRPr sz="4740" b="0">
                <a:solidFill>
                  <a:srgbClr val="203E36"/>
                </a:solidFill>
                <a:latin typeface="Noto Serif"/>
              </a:defRPr>
            </a:pPr>
            <a:r>
              <a:t>106 / 106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69380" y="5044440"/>
            <a:ext cx="4876800" cy="35478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687768"/>
                </a:solidFill>
                <a:latin typeface="Noto Sans"/>
              </a:defRPr>
            </a:pPr>
            <a:r>
              <a:t>проверок в браузере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9120" y="5928359"/>
            <a:ext cx="10972800" cy="3157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766"/>
              </a:lnSpc>
              <a:spcBef>
                <a:spcPts val="0"/>
              </a:spcBef>
              <a:spcAft>
                <a:spcPts val="0"/>
              </a:spcAft>
              <a:defRPr sz="1380" b="0">
                <a:solidFill>
                  <a:srgbClr val="687768"/>
                </a:solidFill>
                <a:latin typeface="Noto Sans"/>
              </a:defRPr>
            </a:pPr>
            <a:r>
              <a:t>Ещё 6 тестов сбора графа и 100 сочетаний согласованности маршрута. Пользовательский пилот впереди.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3400" y="320040"/>
            <a:ext cx="4572000" cy="2670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82"/>
              </a:lnSpc>
              <a:spcBef>
                <a:spcPts val="0"/>
              </a:spcBef>
              <a:spcAft>
                <a:spcPts val="0"/>
              </a:spcAft>
              <a:defRPr sz="1080" b="1">
                <a:solidFill>
                  <a:srgbClr val="687768"/>
                </a:solidFill>
                <a:latin typeface="Noto Sans"/>
              </a:defRPr>
            </a:pPr>
            <a:r>
              <a:t>QADAM / ARCSOLO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4800" y="320040"/>
            <a:ext cx="3733800" cy="25725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05"/>
              </a:lnSpc>
              <a:spcBef>
                <a:spcPts val="0"/>
              </a:spcBef>
              <a:spcAft>
                <a:spcPts val="0"/>
              </a:spcAft>
              <a:defRPr sz="1019" b="0">
                <a:solidFill>
                  <a:srgbClr val="687768"/>
                </a:solidFill>
                <a:latin typeface="Noto Sans"/>
              </a:defRPr>
            </a:pPr>
            <a:r>
              <a:t>10 / БИЗНЕС-ГИПОТЕЗА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876300"/>
            <a:ext cx="11049000" cy="5734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794"/>
              </a:lnSpc>
              <a:spcBef>
                <a:spcPts val="0"/>
              </a:spcBef>
              <a:spcAft>
                <a:spcPts val="0"/>
              </a:spcAft>
              <a:defRPr sz="3300" b="0">
                <a:solidFill>
                  <a:srgbClr val="203E36"/>
                </a:solidFill>
                <a:latin typeface="Noto Serif"/>
              </a:defRPr>
            </a:pPr>
            <a:r>
              <a:t>Сначала польза человеку. Затем городской сервис.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6446520"/>
            <a:ext cx="8382000" cy="24749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28"/>
              </a:lnSpc>
              <a:spcBef>
                <a:spcPts val="0"/>
              </a:spcBef>
              <a:spcAft>
                <a:spcPts val="0"/>
              </a:spcAft>
              <a:defRPr sz="960" b="0">
                <a:solidFill>
                  <a:srgbClr val="687768"/>
                </a:solidFill>
                <a:latin typeface="Noto Sans"/>
              </a:defRPr>
            </a:pPr>
            <a:r>
              <a:t>BUILD WITH AI · SMART CITY · TRACK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25200" y="6416040"/>
            <a:ext cx="495300" cy="2962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12"/>
              </a:lnSpc>
              <a:spcBef>
                <a:spcPts val="0"/>
              </a:spcBef>
              <a:spcAft>
                <a:spcPts val="0"/>
              </a:spcAft>
              <a:defRPr sz="1260" b="1">
                <a:solidFill>
                  <a:srgbClr val="687768"/>
                </a:solidFill>
                <a:latin typeface="Noto Sans"/>
              </a:defRPr>
            </a:pPr>
            <a:r>
              <a:t>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3400" y="2133600"/>
            <a:ext cx="5410200" cy="3429000"/>
          </a:xfrm>
          <a:prstGeom prst="roundRect">
            <a:avLst>
              <a:gd name="adj" fmla="val 4000"/>
            </a:avLst>
          </a:prstGeom>
          <a:solidFill>
            <a:srgbClr val="203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0100" y="2438400"/>
            <a:ext cx="4838700" cy="5108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302"/>
              </a:lnSpc>
              <a:spcBef>
                <a:spcPts val="0"/>
              </a:spcBef>
              <a:spcAft>
                <a:spcPts val="0"/>
              </a:spcAft>
              <a:defRPr sz="2580" b="0">
                <a:solidFill>
                  <a:srgbClr val="D6ED92"/>
                </a:solidFill>
                <a:latin typeface="Noto Serif"/>
              </a:defRPr>
            </a:pPr>
            <a:r>
              <a:t>Бесплатно для прогулки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0100" y="3223260"/>
            <a:ext cx="4762500" cy="6961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380"/>
              </a:lnSpc>
              <a:spcBef>
                <a:spcPts val="0"/>
              </a:spcBef>
              <a:spcAft>
                <a:spcPts val="0"/>
              </a:spcAft>
              <a:defRPr sz="1859" b="0">
                <a:solidFill>
                  <a:srgbClr val="FFFEFA"/>
                </a:solidFill>
                <a:latin typeface="Noto Sans"/>
              </a:defRPr>
            </a:pPr>
            <a:r>
              <a:t>Жители, родители, туристы.</a:t>
            </a:r>
          </a:p>
          <a:p>
            <a:pPr>
              <a:lnSpc>
                <a:spcPts val="2380"/>
              </a:lnSpc>
              <a:spcBef>
                <a:spcPts val="0"/>
              </a:spcBef>
              <a:spcAft>
                <a:spcPts val="0"/>
              </a:spcAft>
              <a:defRPr sz="1859" b="0">
                <a:solidFill>
                  <a:srgbClr val="FFFEFA"/>
                </a:solidFill>
                <a:latin typeface="Noto Sans"/>
              </a:defRPr>
            </a:pPr>
            <a:r>
              <a:t>Короткий план без регистрации.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0100" y="4343400"/>
            <a:ext cx="4762500" cy="61813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C1CEBC"/>
                </a:solidFill>
                <a:latin typeface="Noto Sans"/>
              </a:defRPr>
            </a:pPr>
            <a:r>
              <a:t>Ценность: меньше времени на выбор,</a:t>
            </a:r>
          </a:p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C1CEBC"/>
                </a:solidFill>
                <a:latin typeface="Noto Sans"/>
              </a:defRPr>
            </a:pPr>
            <a:r>
              <a:t>больше понятных действий рядом.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300" y="2133600"/>
            <a:ext cx="5448300" cy="3429000"/>
          </a:xfrm>
          <a:prstGeom prst="roundRect">
            <a:avLst>
              <a:gd name="adj" fmla="val 4000"/>
            </a:avLst>
          </a:prstGeom>
          <a:solidFill>
            <a:srgbClr val="FFF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77000" y="2438400"/>
            <a:ext cx="4876800" cy="5108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302"/>
              </a:lnSpc>
              <a:spcBef>
                <a:spcPts val="0"/>
              </a:spcBef>
              <a:spcAft>
                <a:spcPts val="0"/>
              </a:spcAft>
              <a:defRPr sz="2580" b="0">
                <a:solidFill>
                  <a:srgbClr val="203E36"/>
                </a:solidFill>
                <a:latin typeface="Noto Serif"/>
              </a:defRPr>
            </a:pPr>
            <a:r>
              <a:t>B2B после пилота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77000" y="3223260"/>
            <a:ext cx="4762500" cy="6961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380"/>
              </a:lnSpc>
              <a:spcBef>
                <a:spcPts val="0"/>
              </a:spcBef>
              <a:spcAft>
                <a:spcPts val="0"/>
              </a:spcAft>
              <a:defRPr sz="1859" b="0">
                <a:solidFill>
                  <a:srgbClr val="687768"/>
                </a:solidFill>
                <a:latin typeface="Noto Sans"/>
              </a:defRPr>
            </a:pPr>
            <a:r>
              <a:t>Отели, городские порталы,</a:t>
            </a:r>
          </a:p>
          <a:p>
            <a:pPr>
              <a:lnSpc>
                <a:spcPts val="2380"/>
              </a:lnSpc>
              <a:spcBef>
                <a:spcPts val="0"/>
              </a:spcBef>
              <a:spcAft>
                <a:spcPts val="0"/>
              </a:spcAft>
              <a:defRPr sz="1859" b="0">
                <a:solidFill>
                  <a:srgbClr val="687768"/>
                </a:solidFill>
                <a:latin typeface="Noto Sans"/>
              </a:defRPr>
            </a:pPr>
            <a:r>
              <a:t>организаторы мероприятий.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77000" y="4305300"/>
            <a:ext cx="4762500" cy="88148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687768"/>
                </a:solidFill>
                <a:latin typeface="Noto Sans"/>
              </a:defRPr>
            </a:pPr>
            <a:r>
              <a:t>Гипотеза: платный виджет и интеграция.</a:t>
            </a:r>
          </a:p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687768"/>
                </a:solidFill>
                <a:latin typeface="Noto Sans"/>
              </a:defRPr>
            </a:pPr>
            <a:r>
              <a:t>Реклама маркируется и не отменяет</a:t>
            </a:r>
          </a:p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687768"/>
                </a:solidFill>
                <a:latin typeface="Noto Sans"/>
              </a:defRPr>
            </a:pPr>
            <a:r>
              <a:t>ограничения.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9120" y="5935980"/>
            <a:ext cx="10972800" cy="3157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766"/>
              </a:lnSpc>
              <a:spcBef>
                <a:spcPts val="0"/>
              </a:spcBef>
              <a:spcAft>
                <a:spcPts val="0"/>
              </a:spcAft>
              <a:defRPr sz="1380" b="0">
                <a:solidFill>
                  <a:srgbClr val="687768"/>
                </a:solidFill>
                <a:latin typeface="Noto Sans"/>
              </a:defRPr>
            </a:pPr>
            <a:r>
              <a:t>План пилота: 20 пользователей · 3 сценария · 2 недели. Это цель, не уже достигнутый результат.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3400" y="320040"/>
            <a:ext cx="4572000" cy="2670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82"/>
              </a:lnSpc>
              <a:spcBef>
                <a:spcPts val="0"/>
              </a:spcBef>
              <a:spcAft>
                <a:spcPts val="0"/>
              </a:spcAft>
              <a:defRPr sz="1080" b="1">
                <a:solidFill>
                  <a:srgbClr val="687768"/>
                </a:solidFill>
                <a:latin typeface="Noto Sans"/>
              </a:defRPr>
            </a:pPr>
            <a:r>
              <a:t>QADAM / ARCSOLO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4800" y="320040"/>
            <a:ext cx="3733800" cy="25725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05"/>
              </a:lnSpc>
              <a:spcBef>
                <a:spcPts val="0"/>
              </a:spcBef>
              <a:spcAft>
                <a:spcPts val="0"/>
              </a:spcAft>
              <a:defRPr sz="1019" b="0">
                <a:solidFill>
                  <a:srgbClr val="687768"/>
                </a:solidFill>
                <a:latin typeface="Noto Sans"/>
              </a:defRPr>
            </a:pPr>
            <a:r>
              <a:t>11 / СЛЕДУЮЩИЙ ШАГ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876300"/>
            <a:ext cx="11049000" cy="105537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794"/>
              </a:lnSpc>
              <a:spcBef>
                <a:spcPts val="0"/>
              </a:spcBef>
              <a:spcAft>
                <a:spcPts val="0"/>
              </a:spcAft>
              <a:defRPr sz="3300" b="0">
                <a:solidFill>
                  <a:srgbClr val="203E36"/>
                </a:solidFill>
                <a:latin typeface="Noto Serif"/>
              </a:defRPr>
            </a:pPr>
            <a:r>
              <a:t>Честные ограничения превращаем в план</a:t>
            </a:r>
          </a:p>
          <a:p>
            <a:pPr>
              <a:lnSpc>
                <a:spcPts val="3794"/>
              </a:lnSpc>
              <a:spcBef>
                <a:spcPts val="0"/>
              </a:spcBef>
              <a:spcAft>
                <a:spcPts val="0"/>
              </a:spcAft>
              <a:defRPr sz="3300" b="0">
                <a:solidFill>
                  <a:srgbClr val="203E36"/>
                </a:solidFill>
                <a:latin typeface="Noto Serif"/>
              </a:defRPr>
            </a:pPr>
            <a:r>
              <a:t>развития.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6446520"/>
            <a:ext cx="8382000" cy="24749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28"/>
              </a:lnSpc>
              <a:spcBef>
                <a:spcPts val="0"/>
              </a:spcBef>
              <a:spcAft>
                <a:spcPts val="0"/>
              </a:spcAft>
              <a:defRPr sz="960" b="0">
                <a:solidFill>
                  <a:srgbClr val="687768"/>
                </a:solidFill>
                <a:latin typeface="Noto Sans"/>
              </a:defRPr>
            </a:pPr>
            <a:r>
              <a:t>BUILD WITH AI · SMART CITY · TRACK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25200" y="6416040"/>
            <a:ext cx="495300" cy="2962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12"/>
              </a:lnSpc>
              <a:spcBef>
                <a:spcPts val="0"/>
              </a:spcBef>
              <a:spcAft>
                <a:spcPts val="0"/>
              </a:spcAft>
              <a:defRPr sz="1260" b="1">
                <a:solidFill>
                  <a:srgbClr val="687768"/>
                </a:solidFill>
                <a:latin typeface="Noto Sans"/>
              </a:defRPr>
            </a:pPr>
            <a:r>
              <a:t>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3400" y="2171700"/>
            <a:ext cx="11125200" cy="708660"/>
          </a:xfrm>
          <a:prstGeom prst="roundRect">
            <a:avLst>
              <a:gd name="adj" fmla="val 4000"/>
            </a:avLst>
          </a:prstGeom>
          <a:solidFill>
            <a:srgbClr val="FFF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2000" y="2346960"/>
            <a:ext cx="4495800" cy="37429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27"/>
              </a:lnSpc>
              <a:spcBef>
                <a:spcPts val="0"/>
              </a:spcBef>
              <a:spcAft>
                <a:spcPts val="0"/>
              </a:spcAft>
              <a:defRPr sz="1739" b="0">
                <a:solidFill>
                  <a:srgbClr val="203E36"/>
                </a:solidFill>
                <a:latin typeface="Noto Serif"/>
              </a:defRPr>
            </a:pPr>
            <a:r>
              <a:t>Данные неполные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94960" y="2324100"/>
            <a:ext cx="533400" cy="4230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611"/>
              </a:lnSpc>
              <a:spcBef>
                <a:spcPts val="0"/>
              </a:spcBef>
              <a:spcAft>
                <a:spcPts val="0"/>
              </a:spcAft>
              <a:defRPr sz="2039" b="0">
                <a:solidFill>
                  <a:srgbClr val="687768"/>
                </a:solidFill>
                <a:latin typeface="Noto Sans"/>
              </a:defRPr>
            </a:pPr>
            <a:r>
              <a:t>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57900" y="2369820"/>
            <a:ext cx="5334000" cy="3450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996"/>
              </a:lnSpc>
              <a:spcBef>
                <a:spcPts val="0"/>
              </a:spcBef>
              <a:spcAft>
                <a:spcPts val="0"/>
              </a:spcAft>
              <a:defRPr sz="1560" b="0">
                <a:solidFill>
                  <a:srgbClr val="687768"/>
                </a:solidFill>
                <a:latin typeface="Noto Sans"/>
              </a:defRPr>
            </a:pPr>
            <a:r>
              <a:t>Проверенные описания и расписания от партнёров.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33400" y="3063240"/>
            <a:ext cx="11125200" cy="708660"/>
          </a:xfrm>
          <a:prstGeom prst="roundRect">
            <a:avLst>
              <a:gd name="adj" fmla="val 4000"/>
            </a:avLst>
          </a:prstGeom>
          <a:solidFill>
            <a:srgbClr val="FFF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2000" y="3238500"/>
            <a:ext cx="4495800" cy="37429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27"/>
              </a:lnSpc>
              <a:spcBef>
                <a:spcPts val="0"/>
              </a:spcBef>
              <a:spcAft>
                <a:spcPts val="0"/>
              </a:spcAft>
              <a:defRPr sz="1739" b="0">
                <a:solidFill>
                  <a:srgbClr val="203E36"/>
                </a:solidFill>
                <a:latin typeface="Noto Serif"/>
              </a:defRPr>
            </a:pPr>
            <a:r>
              <a:t>Входы не проверены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94960" y="3215640"/>
            <a:ext cx="533400" cy="4230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611"/>
              </a:lnSpc>
              <a:spcBef>
                <a:spcPts val="0"/>
              </a:spcBef>
              <a:spcAft>
                <a:spcPts val="0"/>
              </a:spcAft>
              <a:defRPr sz="2039" b="0">
                <a:solidFill>
                  <a:srgbClr val="687768"/>
                </a:solidFill>
                <a:latin typeface="Noto Sans"/>
              </a:defRPr>
            </a:pPr>
            <a:r>
              <a:t>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57900" y="3261360"/>
            <a:ext cx="5334000" cy="59862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996"/>
              </a:lnSpc>
              <a:spcBef>
                <a:spcPts val="0"/>
              </a:spcBef>
              <a:spcAft>
                <a:spcPts val="0"/>
              </a:spcAft>
              <a:defRPr sz="1560" b="0">
                <a:solidFill>
                  <a:srgbClr val="687768"/>
                </a:solidFill>
                <a:latin typeface="Noto Sans"/>
              </a:defRPr>
            </a:pPr>
            <a:r>
              <a:t>Пять районов на карте; проверить входы и</a:t>
            </a:r>
          </a:p>
          <a:p>
            <a:pPr>
              <a:lnSpc>
                <a:spcPts val="1996"/>
              </a:lnSpc>
              <a:spcBef>
                <a:spcPts val="0"/>
              </a:spcBef>
              <a:spcAft>
                <a:spcPts val="0"/>
              </a:spcAft>
              <a:defRPr sz="1560" b="0">
                <a:solidFill>
                  <a:srgbClr val="687768"/>
                </a:solidFill>
                <a:latin typeface="Noto Sans"/>
              </a:defRPr>
            </a:pPr>
            <a:r>
              <a:t>перекрытия.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33400" y="3954779"/>
            <a:ext cx="11125200" cy="708660"/>
          </a:xfrm>
          <a:prstGeom prst="roundRect">
            <a:avLst>
              <a:gd name="adj" fmla="val 4000"/>
            </a:avLst>
          </a:prstGeom>
          <a:solidFill>
            <a:srgbClr val="FFF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2000" y="4130040"/>
            <a:ext cx="4495800" cy="37429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27"/>
              </a:lnSpc>
              <a:spcBef>
                <a:spcPts val="0"/>
              </a:spcBef>
              <a:spcAft>
                <a:spcPts val="0"/>
              </a:spcAft>
              <a:defRPr sz="1739" b="0">
                <a:solidFill>
                  <a:srgbClr val="203E36"/>
                </a:solidFill>
                <a:latin typeface="Noto Serif"/>
              </a:defRPr>
            </a:pPr>
            <a:r>
              <a:t>В тексте возможны ошибки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94960" y="4107179"/>
            <a:ext cx="533400" cy="4230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611"/>
              </a:lnSpc>
              <a:spcBef>
                <a:spcPts val="0"/>
              </a:spcBef>
              <a:spcAft>
                <a:spcPts val="0"/>
              </a:spcAft>
              <a:defRPr sz="2039" b="0">
                <a:solidFill>
                  <a:srgbClr val="687768"/>
                </a:solidFill>
                <a:latin typeface="Noto Sans"/>
              </a:defRPr>
            </a:pPr>
            <a:r>
              <a:t>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57900" y="4152900"/>
            <a:ext cx="5334000" cy="59862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996"/>
              </a:lnSpc>
              <a:spcBef>
                <a:spcPts val="0"/>
              </a:spcBef>
              <a:spcAft>
                <a:spcPts val="0"/>
              </a:spcAft>
              <a:defRPr sz="1560" b="0">
                <a:solidFill>
                  <a:srgbClr val="687768"/>
                </a:solidFill>
                <a:latin typeface="Noto Sans"/>
              </a:defRPr>
            </a:pPr>
            <a:r>
              <a:t>Оценка смысла ответов и полезности с</a:t>
            </a:r>
          </a:p>
          <a:p>
            <a:pPr>
              <a:lnSpc>
                <a:spcPts val="1996"/>
              </a:lnSpc>
              <a:spcBef>
                <a:spcPts val="0"/>
              </a:spcBef>
              <a:spcAft>
                <a:spcPts val="0"/>
              </a:spcAft>
              <a:defRPr sz="1560" b="0">
                <a:solidFill>
                  <a:srgbClr val="687768"/>
                </a:solidFill>
                <a:latin typeface="Noto Sans"/>
              </a:defRPr>
            </a:pPr>
            <a:r>
              <a:t>пользователями.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33400" y="4846320"/>
            <a:ext cx="11125200" cy="708660"/>
          </a:xfrm>
          <a:prstGeom prst="roundRect">
            <a:avLst>
              <a:gd name="adj" fmla="val 4000"/>
            </a:avLst>
          </a:prstGeom>
          <a:solidFill>
            <a:srgbClr val="FFF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2000" y="5021580"/>
            <a:ext cx="4495800" cy="37429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27"/>
              </a:lnSpc>
              <a:spcBef>
                <a:spcPts val="0"/>
              </a:spcBef>
              <a:spcAft>
                <a:spcPts val="0"/>
              </a:spcAft>
              <a:defRPr sz="1739" b="0">
                <a:solidFill>
                  <a:srgbClr val="203E36"/>
                </a:solidFill>
                <a:latin typeface="Noto Serif"/>
              </a:defRPr>
            </a:pPr>
            <a:r>
              <a:t>Язык остаётся эвристикой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94960" y="4998720"/>
            <a:ext cx="533400" cy="4230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611"/>
              </a:lnSpc>
              <a:spcBef>
                <a:spcPts val="0"/>
              </a:spcBef>
              <a:spcAft>
                <a:spcPts val="0"/>
              </a:spcAft>
              <a:defRPr sz="2039" b="0">
                <a:solidFill>
                  <a:srgbClr val="687768"/>
                </a:solidFill>
                <a:latin typeface="Noto Sans"/>
              </a:defRPr>
            </a:pPr>
            <a: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57900" y="5044440"/>
            <a:ext cx="5334000" cy="3450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996"/>
              </a:lnSpc>
              <a:spcBef>
                <a:spcPts val="0"/>
              </a:spcBef>
              <a:spcAft>
                <a:spcPts val="0"/>
              </a:spcAft>
              <a:defRPr sz="1560" b="0">
                <a:solidFill>
                  <a:srgbClr val="687768"/>
                </a:solidFill>
                <a:latin typeface="Noto Sans"/>
              </a:defRPr>
            </a:pPr>
            <a:r>
              <a:t>Больше примеров и проверка казахского языка.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9120" y="5996940"/>
            <a:ext cx="10896600" cy="32552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843"/>
              </a:lnSpc>
              <a:spcBef>
                <a:spcPts val="0"/>
              </a:spcBef>
              <a:spcAft>
                <a:spcPts val="0"/>
              </a:spcAft>
              <a:defRPr sz="1439" b="0">
                <a:solidFill>
                  <a:srgbClr val="687768"/>
                </a:solidFill>
                <a:latin typeface="Noto Sans"/>
              </a:defRPr>
            </a:pPr>
            <a:r>
              <a:t>Понимаем «полчаса» и 1h30m. Неясное время просим подтвердить.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03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3400" y="320040"/>
            <a:ext cx="4572000" cy="2670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82"/>
              </a:lnSpc>
              <a:spcBef>
                <a:spcPts val="0"/>
              </a:spcBef>
              <a:spcAft>
                <a:spcPts val="0"/>
              </a:spcAft>
              <a:defRPr sz="1080" b="1">
                <a:solidFill>
                  <a:srgbClr val="D6ED92"/>
                </a:solidFill>
                <a:latin typeface="Noto Sans"/>
              </a:defRPr>
            </a:pPr>
            <a:r>
              <a:t>QADAM / ARCSOLO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4800" y="320040"/>
            <a:ext cx="3733800" cy="25725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05"/>
              </a:lnSpc>
              <a:spcBef>
                <a:spcPts val="0"/>
              </a:spcBef>
              <a:spcAft>
                <a:spcPts val="0"/>
              </a:spcAft>
              <a:defRPr sz="1019" b="0">
                <a:solidFill>
                  <a:srgbClr val="D6ED92"/>
                </a:solidFill>
                <a:latin typeface="Noto Sans"/>
              </a:defRPr>
            </a:pPr>
            <a:r>
              <a:t>12 / ФИНАЛ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876300"/>
            <a:ext cx="11049000" cy="5734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794"/>
              </a:lnSpc>
              <a:spcBef>
                <a:spcPts val="0"/>
              </a:spcBef>
              <a:spcAft>
                <a:spcPts val="0"/>
              </a:spcAft>
              <a:defRPr sz="3300" b="0">
                <a:solidFill>
                  <a:srgbClr val="D6ED92"/>
                </a:solidFill>
                <a:latin typeface="Noto Serif"/>
              </a:defRPr>
            </a:pPr>
            <a:r>
              <a:t>Один район. Один час. Один хороший Qadam.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6446520"/>
            <a:ext cx="8382000" cy="24749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28"/>
              </a:lnSpc>
              <a:spcBef>
                <a:spcPts val="0"/>
              </a:spcBef>
              <a:spcAft>
                <a:spcPts val="0"/>
              </a:spcAft>
              <a:defRPr sz="960" b="0">
                <a:solidFill>
                  <a:srgbClr val="D6ED92"/>
                </a:solidFill>
                <a:latin typeface="Noto Sans"/>
              </a:defRPr>
            </a:pPr>
            <a:r>
              <a:t>BUILD WITH AI · SMART CITY · TRACK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25200" y="6416040"/>
            <a:ext cx="495300" cy="2962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12"/>
              </a:lnSpc>
              <a:spcBef>
                <a:spcPts val="0"/>
              </a:spcBef>
              <a:spcAft>
                <a:spcPts val="0"/>
              </a:spcAft>
              <a:defRPr sz="1260" b="1">
                <a:solidFill>
                  <a:srgbClr val="D6ED92"/>
                </a:solidFill>
                <a:latin typeface="Noto Sans"/>
              </a:defRPr>
            </a:pPr>
            <a: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2209800"/>
            <a:ext cx="10668000" cy="135331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4968"/>
              </a:lnSpc>
              <a:spcBef>
                <a:spcPts val="0"/>
              </a:spcBef>
              <a:spcAft>
                <a:spcPts val="0"/>
              </a:spcAft>
              <a:defRPr sz="4140" b="0">
                <a:solidFill>
                  <a:srgbClr val="D6ED92"/>
                </a:solidFill>
                <a:latin typeface="Noto Serif"/>
              </a:defRPr>
            </a:pPr>
            <a:r>
              <a:t>Не просто «куда сходить».</a:t>
            </a:r>
          </a:p>
          <a:p>
            <a:pPr>
              <a:lnSpc>
                <a:spcPts val="4968"/>
              </a:lnSpc>
              <a:spcBef>
                <a:spcPts val="0"/>
              </a:spcBef>
              <a:spcAft>
                <a:spcPts val="0"/>
              </a:spcAft>
              <a:defRPr sz="4140" b="0">
                <a:solidFill>
                  <a:srgbClr val="D6ED92"/>
                </a:solidFill>
                <a:latin typeface="Noto Serif"/>
              </a:defRPr>
            </a:pPr>
            <a:r>
              <a:t>План, которому понятны границы.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7700" y="4076700"/>
            <a:ext cx="10058400" cy="7741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688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FFFEFA"/>
                </a:solidFill>
                <a:latin typeface="Noto Sans"/>
              </a:defRPr>
            </a:pPr>
            <a:r>
              <a:t>Личные идеи. Истории города. Пешеходные пути.</a:t>
            </a:r>
          </a:p>
          <a:p>
            <a:pPr>
              <a:lnSpc>
                <a:spcPts val="2688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FFFEFA"/>
                </a:solidFill>
                <a:latin typeface="Noto Sans"/>
              </a:defRPr>
            </a:pPr>
            <a:r>
              <a:t>Сопровождение прогулки и возвращение с запасом.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7700" y="5463540"/>
            <a:ext cx="10668000" cy="37429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27"/>
              </a:lnSpc>
              <a:spcBef>
                <a:spcPts val="0"/>
              </a:spcBef>
              <a:spcAft>
                <a:spcPts val="0"/>
              </a:spcAft>
              <a:defRPr sz="1739" b="0">
                <a:solidFill>
                  <a:srgbClr val="C1CEBC"/>
                </a:solidFill>
                <a:latin typeface="Noto Sans"/>
              </a:defRPr>
            </a:pPr>
            <a:r>
              <a:t>ArcSolo · github.com/Csadow/qadam-astana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7700" y="5935980"/>
            <a:ext cx="10668000" cy="2962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12"/>
              </a:lnSpc>
              <a:spcBef>
                <a:spcPts val="0"/>
              </a:spcBef>
              <a:spcAft>
                <a:spcPts val="0"/>
              </a:spcAft>
              <a:defRPr sz="1260" b="0">
                <a:solidFill>
                  <a:srgbClr val="C1CEBC"/>
                </a:solidFill>
                <a:latin typeface="Noto Sans"/>
              </a:defRPr>
            </a:pPr>
            <a:r>
              <a:t>Код и планировщик доступны публично. Живой Gemini — в локальном приложении и видео.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