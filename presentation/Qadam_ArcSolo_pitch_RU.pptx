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</a:t>
            </a:r>
          </a:p>
          <a:p/>
          <a:p>
            <a:r>
              <a:t>Здравствуйте! Мы — ArcSolo, и это Qadam: помощник по коротким прогулкам в Астане. Представьте, что вы стоите возле MEGA Silk Way и у вас свободен один час. Хочется успеть что-то приятное, а не потратить половину времени на поиск. Qadam предлагает конкретные места, объясняет выбор и считает прогулку вместе с возвращением. Наш принцип: полезная рекомендация начинается с реальных данных и честных ограничений.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</a:t>
            </a:r>
          </a:p>
          <a:p/>
          <a:p>
            <a:r>
              <a:t>В этой задаче недостаточно назвать популярный парк или музей. Пользователь спрашивает: что подходит именно сейчас, рядом со мной и под мой запас времени? Родителю важен формат прогулки, туристу — расстояние, человеку с ноутбуком — розетка. Но данных о розетке может вообще не быть. Мы решили соединить поиск, проверку ограничений и короткое объяснение, а отсутствие данных сделать видимым.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секунд</a:t>
            </a:r>
          </a:p>
          <a:p/>
          <a:p>
            <a:r>
              <a:t>Так выглядит рабочий прототип. Слева задаём старт, свободное время и интересы. Справа видим карту, до трёх рекомендаций и компактный маршрут. У каждого места есть причина выбора, оценка прогулки и посещения, отдельная идея действия и ссылка на источник. Есть английский, русский и казахский интерфейс. Геолокация необязательна: можно выбрать знакомый ориентир, ничего не разрешая браузеру.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секунд</a:t>
            </a:r>
          </a:p>
          <a:p/>
          <a:p>
            <a:r>
              <a:t>Переключимся на демо и нажмём «Час рядом с EXPO». Система находит три разных варианта и предлагает маршрут с кофе и садом: примерно двадцать пять минут на ходьбу и тридцать пять на остановки. Вместе — шестьдесят минут, включая возвращение. Обратите внимание: для сада часы работы неизвестны, и приложение не говорит, что он открыт. Теперь выберем тихое кафе с розеткой. Мы увидим кафе, но также предупреждение: розетки и тишина не подтверждены. И наконец уменьшим время: если ничего не подходит, система честно покажет пустой результат. Вернёмся к слайдам.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секунд</a:t>
            </a:r>
          </a:p>
          <a:p/>
          <a:p>
            <a:r>
              <a:t>Важное требование трека — собрать данные автоматически. Наш скрипт получает открытые данные OpenStreetMap, фильтрует категории и удаляет дубликаты. В снимке двести девяносто восемь именованных мест в пяти районах. У ста двух есть часы работы, у двадцати шести — тег доступности. Исходных описаний в этих записях не было: короткие описания честно собраны из тегов. Мы сохраняем происхождение каждой записи и можем воспроизвести обработку без интернета. Дата скачивания не выдаётся за дату проверки заведения.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</a:t>
            </a:r>
          </a:p>
          <a:p/>
          <a:p>
            <a:r>
              <a:t>Наш RAG начинается с реальных документов POI. Поиск сочетает BM25 и небольшой многоязычный словарь намерений. Затем строгие проверки исключают слишком далёкие места, неподходящие категории и визиты, которые не укладываются в известное расписание. Только после этого Gemini может выбрать идеи действий для найденных мест. Ответ ограничен разрешёнными идентификаторами и проверяется кодом. Это намеренно узкая генерация: модель не придумывает часы, адреса или новые заведения. Сейчас без ключа работает честно обозначенный шаблонный режим; живой вызов модели мы не выдаём за уже проверенный.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секунд</a:t>
            </a:r>
          </a:p>
          <a:p/>
          <a:p>
            <a:r>
              <a:t>На этом экране видно нашу главную продуктовую особенность: отсутствие сведений не превращается в уверенное обещание. Мы разделяем факты из POI и предложенные действия. Тег доступности заведения не означает проверенный маршрут без ступеней. Точные координаты остаются в памяти браузера, история местоположения не сохраняется. Для карты не нужны сторонние тайлы. В опциональный запрос Gemini уходят только публичные места и несколько флагов предпочтений. При этом мы честно отмечаем, что инфраструктура провайдеров может обрабатывать сетевые метаданные.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</a:t>
            </a:r>
          </a:p>
          <a:p/>
          <a:p>
            <a:r>
              <a:t>Мы проверили не только удачный сценарий. Есть тридцать два теста движка, API и собранного Worker, сто шестьдесят комбинаций контекста, восемь приёмочных сценариев и семнадцать проверок браузера. Среди них — закрытие заведения во время визита, слишком короткий бюджет, отсутствие данных, неверные ответы модели, мобильная вёрстка и отсутствие отправки координат. Это инженерные проверки прототипа. Они не означают, что мы уже измерили удовлетворённость реальных пользователей или качество живой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секунд</a:t>
            </a:r>
          </a:p>
          <a:p/>
          <a:p>
            <a:r>
              <a:t>Мы видим бесплатный пользовательский сценарий и потенциальную B2B-модель: виджет для отелей, городских порталов и организаторов мероприятий. Но это гипотеза, а не заявка на уже существующую выручку. Следующий шаг — двухнедельный пилот с двадцатью пользователями на трёх сценариях. Будем измерять полезность рекомендации, время до выбора и ошибки ограничений. Если появятся партнёрские размещения, они будут маркироваться и не смогут обойти фильтры времени или доступности.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секунд</a:t>
            </a:r>
          </a:p>
          <a:p/>
          <a:p>
            <a:r>
              <a:t>Мы не пытаемся скрыть границы прототипа. Сейчас данные покрывают пять районов, а пешее время оценивается по расстоянию с коэффициентом обхода. Следующий технический шаг — пешеходный граф с реальными входами и переходами. Следующий шаг по данным — проверенные описания и расписания от партнёров. Затем подключаем живую модель и оцениваем её на сценариях с пользователями. После этого имеет смысл добавлять события и групповое планирование, не размывая базовую полезность.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</a:t>
            </a:r>
          </a:p>
          <a:p/>
          <a:p>
            <a:r>
              <a:t>Qadam превращает свободный час в понятный небольшой план. Его сила — в сочетании реальных мест, выполнимого бюджета времени и честного объяснения того, что известно, а что нет. У нас готов рабочий интерфейс, автоматизированный сбор, тесты и воспроизводимое демо. Мы хотим проверить эту пользу на одном районе вместе с реальными пользователями и локальными партнёрами. Спасибо! Готовы показать любой из сценариев и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"/>
            <a:ext cx="4572000" cy="267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D6ED92"/>
                </a:solidFill>
                <a:latin typeface="Noto Sans"/>
              </a:defRPr>
            </a:pPr>
            <a:r>
              <a:t>QADAM / ARCSOLO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0" y="320040"/>
            <a:ext cx="3733800" cy="257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D6ED92"/>
                </a:solidFill>
                <a:latin typeface="Noto Sans"/>
              </a:defRPr>
            </a:pPr>
            <a:r>
              <a:t>01 / ИДЕЯ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1049000" cy="5734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D6ED92"/>
                </a:solidFill>
                <a:latin typeface="Noto Serif"/>
              </a:defRPr>
            </a:pPr>
            <a:r>
              <a:t>Астана — за один свободный час.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446520"/>
            <a:ext cx="8382000" cy="247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D6ED92"/>
                </a:solidFill>
                <a:latin typeface="Noto Sans"/>
              </a:defRPr>
            </a:pPr>
            <a:r>
              <a:t>BUILD WITH AI · SMART CITY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16040"/>
            <a:ext cx="4953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D6ED92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171700"/>
            <a:ext cx="7239000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19"/>
              </a:lnSpc>
              <a:spcBef>
                <a:spcPts val="0"/>
              </a:spcBef>
              <a:spcAft>
                <a:spcPts val="0"/>
              </a:spcAft>
              <a:defRPr sz="9000" b="0">
                <a:solidFill>
                  <a:srgbClr val="D6ED92"/>
                </a:solidFill>
                <a:latin typeface="Noto Serif"/>
              </a:defRPr>
            </a:pPr>
            <a:r>
              <a:t>qadam.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3771900"/>
            <a:ext cx="8763000" cy="1047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63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FFFEFA"/>
                </a:solidFill>
                <a:latin typeface="Noto Serif"/>
              </a:defRPr>
            </a:pPr>
            <a:r>
              <a:t>Маленькая прогулка.</a:t>
            </a:r>
          </a:p>
          <a:p>
            <a:pPr>
              <a:lnSpc>
                <a:spcPts val="3763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FFFEFA"/>
                </a:solidFill>
                <a:latin typeface="Noto Serif"/>
              </a:defRPr>
            </a:pPr>
            <a:r>
              <a:t>Реальные места. Честные ограничения.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5204460"/>
            <a:ext cx="7620000" cy="3547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B6C6B7"/>
                </a:solidFill>
                <a:latin typeface="Noto Sans"/>
              </a:defRPr>
            </a:pPr>
            <a:r>
              <a:t>ИИ-помощник по городским прогулкам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20200" y="2270760"/>
            <a:ext cx="1676400" cy="1676400"/>
          </a:xfrm>
          <a:prstGeom prst="roundRect">
            <a:avLst>
              <a:gd name="adj" fmla="val 4000"/>
            </a:avLst>
          </a:prstGeom>
          <a:solidFill>
            <a:srgbClr val="D6E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9616440" y="2682240"/>
            <a:ext cx="861060" cy="861060"/>
          </a:xfrm>
          <a:prstGeom prst="line">
            <a:avLst/>
          </a:prstGeom>
          <a:ln w="45719">
            <a:solidFill>
              <a:srgbClr val="20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29800" y="2682240"/>
            <a:ext cx="647700" cy="0"/>
          </a:xfrm>
          <a:prstGeom prst="line">
            <a:avLst/>
          </a:prstGeom>
          <a:ln w="45719">
            <a:solidFill>
              <a:srgbClr val="20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77500" y="2682240"/>
            <a:ext cx="0" cy="647700"/>
          </a:xfrm>
          <a:prstGeom prst="line">
            <a:avLst/>
          </a:prstGeom>
          <a:ln w="45719">
            <a:solidFill>
              <a:srgbClr val="20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"/>
            <a:ext cx="4572000" cy="267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687768"/>
                </a:solidFill>
                <a:latin typeface="Noto Sans"/>
              </a:defRPr>
            </a:pPr>
            <a:r>
              <a:t>QADAM / ARCSOLO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0" y="320040"/>
            <a:ext cx="3733800" cy="257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87768"/>
                </a:solidFill>
                <a:latin typeface="Noto Sans"/>
              </a:defRPr>
            </a:pPr>
            <a:r>
              <a:t>02 / 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1049000" cy="5734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Свободное время есть. Готового плана — нет.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446520"/>
            <a:ext cx="8382000" cy="247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87768"/>
                </a:solidFill>
                <a:latin typeface="Noto Sans"/>
              </a:defRPr>
            </a:pPr>
            <a:r>
              <a:t>BUILD WITH AI · SMART CITY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16040"/>
            <a:ext cx="4953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687768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2286000"/>
            <a:ext cx="3543300" cy="25908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760" y="2514600"/>
            <a:ext cx="2971800" cy="364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87768"/>
                </a:solidFill>
                <a:latin typeface="Noto Serif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760" y="3055620"/>
            <a:ext cx="2971800" cy="432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3E36"/>
                </a:solidFill>
                <a:latin typeface="Noto Serif"/>
              </a:defRPr>
            </a:pPr>
            <a:r>
              <a:t>Что рядом?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60" y="3611879"/>
            <a:ext cx="2971800" cy="88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Список мест ещё не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учитывает вашу точку старта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и интересы.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5300" y="2286000"/>
            <a:ext cx="3543300" cy="25908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660" y="2514600"/>
            <a:ext cx="2971800" cy="364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87768"/>
                </a:solidFill>
                <a:latin typeface="Noto Serif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660" y="3055620"/>
            <a:ext cx="2971800" cy="432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3E36"/>
                </a:solidFill>
                <a:latin typeface="Noto Serif"/>
              </a:defRPr>
            </a:pPr>
            <a:r>
              <a:t>Успею ли я?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660" y="3611879"/>
            <a:ext cx="2971800" cy="88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На дорогу, посещение и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возвращение нужен общий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бюджет.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2286000"/>
            <a:ext cx="3543300" cy="25908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59" y="2514600"/>
            <a:ext cx="2971800" cy="364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87768"/>
                </a:solidFill>
                <a:latin typeface="Noto Serif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59" y="3055620"/>
            <a:ext cx="2971800" cy="432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3E36"/>
                </a:solidFill>
                <a:latin typeface="Noto Serif"/>
              </a:defRPr>
            </a:pPr>
            <a:r>
              <a:t>Можно ли доверять?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59" y="3611879"/>
            <a:ext cx="2971800" cy="88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Розетки, часы работы и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доступность часто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неизвестны.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120" y="5448300"/>
            <a:ext cx="106680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03E36"/>
                </a:solidFill>
                <a:latin typeface="Noto Sans"/>
              </a:defRPr>
            </a:pPr>
            <a:r>
              <a:t>Для жителей, родителей и гостей города — когда есть 30–120 минут.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"/>
            <a:ext cx="4572000" cy="267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687768"/>
                </a:solidFill>
                <a:latin typeface="Noto Sans"/>
              </a:defRPr>
            </a:pPr>
            <a:r>
              <a:t>QADAM / ARCSOLO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0" y="320040"/>
            <a:ext cx="3733800" cy="257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87768"/>
                </a:solidFill>
                <a:latin typeface="Noto Sans"/>
              </a:defRPr>
            </a:pPr>
            <a:r>
              <a:t>03 / ПРОДУКТ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1049000" cy="5734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Один экран: от желания к маленькой прогулке.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446520"/>
            <a:ext cx="8382000" cy="247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87768"/>
                </a:solidFill>
                <a:latin typeface="Noto Sans"/>
              </a:defRPr>
            </a:pPr>
            <a:r>
              <a:t>BUILD WITH AI · SMART CITY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16040"/>
            <a:ext cx="4953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687768"/>
                </a:solidFill>
                <a:latin typeface="Noto Sans"/>
              </a:defRPr>
            </a:pPr>
            <a:r>
              <a:t>03</a:t>
            </a:r>
          </a:p>
        </p:txBody>
      </p:sp>
      <p:pic>
        <p:nvPicPr>
          <p:cNvPr id="8" name="Picture 7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57400"/>
            <a:ext cx="7162799" cy="2540500"/>
          </a:xfrm>
          <a:prstGeom prst="rect">
            <a:avLst/>
          </a:prstGeom>
        </p:spPr>
      </p:pic>
      <p:pic>
        <p:nvPicPr>
          <p:cNvPr id="9" name="Picture 8" descr="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991100"/>
            <a:ext cx="6541928" cy="1104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77200" y="2171700"/>
            <a:ext cx="3543300" cy="4035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203E36"/>
                </a:solidFill>
                <a:latin typeface="Noto Serif"/>
              </a:defRPr>
            </a:pPr>
            <a:r>
              <a:t>Контекст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0" y="2575560"/>
            <a:ext cx="3390900" cy="5986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Старт, время, интересы, погода и</a:t>
            </a:r>
          </a:p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доступность.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3429000"/>
            <a:ext cx="3543300" cy="4035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203E36"/>
                </a:solidFill>
                <a:latin typeface="Noto Serif"/>
              </a:defRPr>
            </a:pPr>
            <a:r>
              <a:t>1–3 варианта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7200" y="3832860"/>
            <a:ext cx="3390900" cy="5986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Почему подходит, сколько идти и</a:t>
            </a:r>
          </a:p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что сделать.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4686300"/>
            <a:ext cx="3543300" cy="4035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203E36"/>
                </a:solidFill>
                <a:latin typeface="Noto Serif"/>
              </a:defRPr>
            </a:pPr>
            <a:r>
              <a:t>План с источниками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0" y="5090160"/>
            <a:ext cx="3390900" cy="5986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Короткий маршрут и ссылка на</a:t>
            </a:r>
          </a:p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запись каждого POI.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"/>
            <a:ext cx="4572000" cy="267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687768"/>
                </a:solidFill>
                <a:latin typeface="Noto Sans"/>
              </a:defRPr>
            </a:pPr>
            <a:r>
              <a:t>QADAM / ARCSOLO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0" y="320040"/>
            <a:ext cx="3733800" cy="257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87768"/>
                </a:solidFill>
                <a:latin typeface="Noto Sans"/>
              </a:defRPr>
            </a:pPr>
            <a:r>
              <a:t>04 / ПОКАЗАТЬ ПРОДУКТ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1049000" cy="5734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Демо: 60 минут возле EXPO.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446520"/>
            <a:ext cx="8382000" cy="247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87768"/>
                </a:solidFill>
                <a:latin typeface="Noto Sans"/>
              </a:defRPr>
            </a:pPr>
            <a:r>
              <a:t>BUILD WITH AI · SMART CITY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16040"/>
            <a:ext cx="4953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687768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2095500"/>
            <a:ext cx="11125200" cy="914400"/>
          </a:xfrm>
          <a:prstGeom prst="roundRect">
            <a:avLst>
              <a:gd name="adj" fmla="val 4000"/>
            </a:avLst>
          </a:prstGeom>
          <a:solidFill>
            <a:srgbClr val="20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2339340"/>
            <a:ext cx="10439400" cy="471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95"/>
              </a:lnSpc>
              <a:spcBef>
                <a:spcPts val="0"/>
              </a:spcBef>
              <a:spcAft>
                <a:spcPts val="0"/>
              </a:spcAft>
              <a:defRPr sz="2340" b="0">
                <a:solidFill>
                  <a:srgbClr val="D6ED92"/>
                </a:solidFill>
                <a:latin typeface="Noto Serif"/>
              </a:defRPr>
            </a:pPr>
            <a:r>
              <a:t>60 минут = 25 минут пешком + 35 минут на месте</a:t>
            </a:r>
          </a:p>
        </p:txBody>
      </p:sp>
      <p:pic>
        <p:nvPicPr>
          <p:cNvPr id="10" name="Picture 9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314700"/>
            <a:ext cx="6477000" cy="2297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0" y="3429000"/>
            <a:ext cx="4114800" cy="8132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41"/>
              </a:lnSpc>
              <a:spcBef>
                <a:spcPts val="0"/>
              </a:spcBef>
              <a:spcAft>
                <a:spcPts val="0"/>
              </a:spcAft>
              <a:defRPr sz="2220" b="0">
                <a:solidFill>
                  <a:srgbClr val="203E36"/>
                </a:solidFill>
                <a:latin typeface="Noto Serif"/>
              </a:defRPr>
            </a:pPr>
            <a:r>
              <a:t>Лепим и варим → Japanese</a:t>
            </a:r>
          </a:p>
          <a:p>
            <a:pPr>
              <a:lnSpc>
                <a:spcPts val="2841"/>
              </a:lnSpc>
              <a:spcBef>
                <a:spcPts val="0"/>
              </a:spcBef>
              <a:spcAft>
                <a:spcPts val="0"/>
              </a:spcAft>
              <a:defRPr sz="2220" b="0">
                <a:solidFill>
                  <a:srgbClr val="203E36"/>
                </a:solidFill>
                <a:latin typeface="Noto Serif"/>
              </a:defRPr>
            </a:pPr>
            <a:r>
              <a:t>garden → старт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0" y="4381500"/>
            <a:ext cx="4000500" cy="88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Реальные записи OSM.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Возвращение уже включено.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Часы сада неизвестны — это видно.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740" y="6080759"/>
            <a:ext cx="108966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687768"/>
                </a:solidFill>
                <a:latin typeface="Noto Sans"/>
              </a:defRPr>
            </a:pPr>
            <a:r>
              <a:t>Сценарий смоделирован. Время — оценка; линии на карте не являются навигацией.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"/>
            <a:ext cx="4572000" cy="267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687768"/>
                </a:solidFill>
                <a:latin typeface="Noto Sans"/>
              </a:defRPr>
            </a:pPr>
            <a:r>
              <a:t>QADAM / ARCSOLO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0" y="320040"/>
            <a:ext cx="3733800" cy="257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87768"/>
                </a:solidFill>
                <a:latin typeface="Noto Sans"/>
              </a:defRPr>
            </a:pPr>
            <a:r>
              <a:t>05 /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1049000" cy="1055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Данные собраны автоматически. Пробелы</a:t>
            </a:r>
          </a:p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измерены.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446520"/>
            <a:ext cx="8382000" cy="247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87768"/>
                </a:solidFill>
                <a:latin typeface="Noto Sans"/>
              </a:defRPr>
            </a:pPr>
            <a:r>
              <a:t>BUILD WITH AI · SMART CITY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16040"/>
            <a:ext cx="4953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687768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2209800"/>
            <a:ext cx="3543300" cy="18669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760" y="2400300"/>
            <a:ext cx="3048000" cy="9692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912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203E36"/>
                </a:solidFill>
                <a:latin typeface="Noto Serif"/>
              </a:defRPr>
            </a:pPr>
            <a:r>
              <a:t>298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505200"/>
            <a:ext cx="3048000" cy="345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именованных POI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5300" y="2209800"/>
            <a:ext cx="3543300" cy="18669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8660" y="2400300"/>
            <a:ext cx="3048000" cy="9692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912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203E36"/>
                </a:solidFill>
                <a:latin typeface="Noto Serif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3900" y="3505200"/>
            <a:ext cx="3048000" cy="345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районов Астаны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2209800"/>
            <a:ext cx="3543300" cy="18669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59" y="2400300"/>
            <a:ext cx="3048000" cy="9692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912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203E36"/>
                </a:solidFill>
                <a:latin typeface="Noto Serif"/>
              </a:defRPr>
            </a:pPr>
            <a:r>
              <a:t>102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3505200"/>
            <a:ext cx="3048000" cy="345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записи с часами работы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120" y="4511040"/>
            <a:ext cx="11049000" cy="432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3E36"/>
                </a:solidFill>
                <a:latin typeface="Noto Serif"/>
              </a:defRPr>
            </a:pPr>
            <a:r>
              <a:t>OpenStreetMap → сбор → фильтрация → дедупликация → снимок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" y="5074920"/>
            <a:ext cx="10896600" cy="6181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26 записей с тегом доступности. Описания — прозрачные краткие сводки тегов.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Сохранены идентификаторы, источники, дата сбора и контрольная сумма.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120" y="5966459"/>
            <a:ext cx="110490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687768"/>
                </a:solidFill>
                <a:latin typeface="Noto Sans"/>
              </a:defRPr>
            </a:pPr>
            <a:r>
              <a:t>Снимок: 18.10.2026 · © OpenStreetMap contributors / ODbL · Дата сбора ≠ проверка заведения.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"/>
            <a:ext cx="4572000" cy="267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687768"/>
                </a:solidFill>
                <a:latin typeface="Noto Sans"/>
              </a:defRPr>
            </a:pPr>
            <a:r>
              <a:t>QADAM / ARCSOLO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0" y="320040"/>
            <a:ext cx="3733800" cy="257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87768"/>
                </a:solidFill>
                <a:latin typeface="Noto Sans"/>
              </a:defRPr>
            </a:pPr>
            <a:r>
              <a:t>06 / ПОДХОД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1049000" cy="1055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RAG: сначала найти и проверить, потом</a:t>
            </a:r>
          </a:p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предложить.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446520"/>
            <a:ext cx="8382000" cy="247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87768"/>
                </a:solidFill>
                <a:latin typeface="Noto Sans"/>
              </a:defRPr>
            </a:pPr>
            <a:r>
              <a:t>BUILD WITH AI · SMART CITY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16040"/>
            <a:ext cx="4953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687768"/>
                </a:solidFill>
                <a:latin typeface="Noto San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2286000"/>
            <a:ext cx="2057400" cy="20574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" y="2491740"/>
            <a:ext cx="1676400" cy="3255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03E36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" y="2964179"/>
            <a:ext cx="1752600" cy="3938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203E36"/>
                </a:solidFill>
                <a:latin typeface="Noto Serif"/>
              </a:defRPr>
            </a:pPr>
            <a:r>
              <a:t>POI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" y="3520440"/>
            <a:ext cx="1752600" cy="5205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87768"/>
                </a:solidFill>
                <a:latin typeface="Noto Sans"/>
              </a:defRPr>
            </a:pPr>
            <a:r>
              <a:t>Реальный снимок</a:t>
            </a:r>
          </a:p>
          <a:p>
            <a:pPr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87768"/>
                </a:solidFill>
                <a:latin typeface="Noto Sans"/>
              </a:defRPr>
            </a:pPr>
            <a:r>
              <a:t>и источники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1300" y="2286000"/>
            <a:ext cx="2057400" cy="20574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6560" y="2491740"/>
            <a:ext cx="1676400" cy="3255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03E36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6560" y="2964179"/>
            <a:ext cx="1752600" cy="3938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203E36"/>
                </a:solidFill>
                <a:latin typeface="Noto Serif"/>
              </a:defRPr>
            </a:pPr>
            <a:r>
              <a:t>Поиск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6560" y="3520440"/>
            <a:ext cx="1752600" cy="5205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87768"/>
                </a:solidFill>
                <a:latin typeface="Noto Sans"/>
              </a:defRPr>
            </a:pPr>
            <a:r>
              <a:t>BM25 + понятия</a:t>
            </a:r>
          </a:p>
          <a:p>
            <a:pPr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87768"/>
                </a:solidFill>
                <a:latin typeface="Noto Sans"/>
              </a:defRPr>
            </a:pPr>
            <a:r>
              <a:t>на трёх языках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286000"/>
            <a:ext cx="2057400" cy="20574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4460" y="2491740"/>
            <a:ext cx="1676400" cy="3255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03E36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4460" y="2964179"/>
            <a:ext cx="1752600" cy="3938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203E36"/>
                </a:solidFill>
                <a:latin typeface="Noto Serif"/>
              </a:defRPr>
            </a:pPr>
            <a:r>
              <a:t>Ограничения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4460" y="3520440"/>
            <a:ext cx="1752600" cy="5205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87768"/>
                </a:solidFill>
                <a:latin typeface="Noto Sans"/>
              </a:defRPr>
            </a:pPr>
            <a:r>
              <a:t>Дорога, время,</a:t>
            </a:r>
          </a:p>
          <a:p>
            <a:pPr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87768"/>
                </a:solidFill>
                <a:latin typeface="Noto Sans"/>
              </a:defRPr>
            </a:pPr>
            <a:r>
              <a:t>часы и доступность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7100" y="2286000"/>
            <a:ext cx="2057400" cy="2057400"/>
          </a:xfrm>
          <a:prstGeom prst="roundRect">
            <a:avLst>
              <a:gd name="adj" fmla="val 4000"/>
            </a:avLst>
          </a:prstGeom>
          <a:solidFill>
            <a:srgbClr val="20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59" y="2491740"/>
            <a:ext cx="1676400" cy="3255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D6ED92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2964179"/>
            <a:ext cx="1752600" cy="3938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D6ED92"/>
                </a:solidFill>
                <a:latin typeface="Noto Serif"/>
              </a:defRPr>
            </a:pPr>
            <a:r>
              <a:t>Gemini*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3520440"/>
            <a:ext cx="1752600" cy="5205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C4D1C0"/>
                </a:solidFill>
                <a:latin typeface="Noto Sans"/>
              </a:defRPr>
            </a:pPr>
            <a:r>
              <a:t>Выбор идеи</a:t>
            </a:r>
          </a:p>
          <a:p>
            <a:pPr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C4D1C0"/>
                </a:solidFill>
                <a:latin typeface="Noto Sans"/>
              </a:defRPr>
            </a:pPr>
            <a:r>
              <a:t>по найденным POI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5000" y="2286000"/>
            <a:ext cx="2057400" cy="20574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0260" y="2491740"/>
            <a:ext cx="1676400" cy="3255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03E36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0260" y="2964179"/>
            <a:ext cx="1752600" cy="3938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203E36"/>
                </a:solidFill>
                <a:latin typeface="Noto Serif"/>
              </a:defRPr>
            </a:pPr>
            <a:r>
              <a:t>Проверка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0260" y="3520440"/>
            <a:ext cx="1752600" cy="7351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87768"/>
                </a:solidFill>
                <a:latin typeface="Noto Sans"/>
              </a:defRPr>
            </a:pPr>
            <a:r>
              <a:t>Только</a:t>
            </a:r>
          </a:p>
          <a:p>
            <a:pPr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87768"/>
                </a:solidFill>
                <a:latin typeface="Noto Sans"/>
              </a:defRPr>
            </a:pPr>
            <a:r>
              <a:t>разрешённые</a:t>
            </a:r>
          </a:p>
          <a:p>
            <a:pPr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87768"/>
                </a:solidFill>
                <a:latin typeface="Noto Sans"/>
              </a:defRPr>
            </a:pPr>
            <a:r>
              <a:t>ID и действия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762500"/>
            <a:ext cx="10972800" cy="374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203E36"/>
                </a:solidFill>
                <a:latin typeface="Noto Sans"/>
              </a:defRPr>
            </a:pPr>
            <a:r>
              <a:t>* Без ключа работает явно обозначенный поиск с шаблонными идеями.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5311140"/>
            <a:ext cx="10972800" cy="5986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Gemini генерирует структурированный выбор действий, а не свободные факты о местах.</a:t>
            </a:r>
          </a:p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Адаптер проверен на mock-ответах; живой вызов требует серверного ключа.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"/>
            <a:ext cx="4572000" cy="267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687768"/>
                </a:solidFill>
                <a:latin typeface="Noto Sans"/>
              </a:defRPr>
            </a:pPr>
            <a:r>
              <a:t>QADAM / ARCSOLO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0" y="320040"/>
            <a:ext cx="3733800" cy="257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87768"/>
                </a:solidFill>
                <a:latin typeface="Noto Sans"/>
              </a:defRPr>
            </a:pPr>
            <a:r>
              <a:t>07 / ЭТИКА И ПРИВАТНОСТЬ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1049000" cy="5734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Доверие — это видимое «не знаем».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446520"/>
            <a:ext cx="8382000" cy="247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87768"/>
                </a:solidFill>
                <a:latin typeface="Noto Sans"/>
              </a:defRPr>
            </a:pPr>
            <a:r>
              <a:t>BUILD WITH AI · SMART CITY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16040"/>
            <a:ext cx="4953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687768"/>
                </a:solidFill>
                <a:latin typeface="Noto Sans"/>
              </a:defRPr>
            </a:pPr>
            <a:r>
              <a:t>07</a:t>
            </a:r>
          </a:p>
        </p:txBody>
      </p:sp>
      <p:pic>
        <p:nvPicPr>
          <p:cNvPr id="8" name="Picture 7" descr="coff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33600"/>
            <a:ext cx="6400800" cy="18468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29500" y="2171700"/>
            <a:ext cx="3962400" cy="462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8"/>
              </a:lnSpc>
              <a:spcBef>
                <a:spcPts val="0"/>
              </a:spcBef>
              <a:spcAft>
                <a:spcPts val="0"/>
              </a:spcAft>
              <a:defRPr sz="2280" b="0">
                <a:solidFill>
                  <a:srgbClr val="203E36"/>
                </a:solidFill>
                <a:latin typeface="Noto Serif"/>
              </a:defRPr>
            </a:pPr>
            <a:r>
              <a:t>Факты и идеи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0" y="2651760"/>
            <a:ext cx="3886200" cy="6181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Источник POI отделён от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предложения, что сделать.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0" y="3543300"/>
            <a:ext cx="3962400" cy="462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8"/>
              </a:lnSpc>
              <a:spcBef>
                <a:spcPts val="0"/>
              </a:spcBef>
              <a:spcAft>
                <a:spcPts val="0"/>
              </a:spcAft>
              <a:defRPr sz="2280" b="0">
                <a:solidFill>
                  <a:srgbClr val="203E36"/>
                </a:solidFill>
                <a:latin typeface="Noto Serif"/>
              </a:defRPr>
            </a:pPr>
            <a:r>
              <a:t>Локация без истории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0" y="4038600"/>
            <a:ext cx="3886200" cy="88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Расчёт в браузере. Точные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координаты и исходный запрос не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отправляются в Gemini.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806440"/>
            <a:ext cx="10972800" cy="345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91652D"/>
                </a:solidFill>
                <a:latin typeface="Noto Sans"/>
              </a:defRPr>
            </a:pPr>
            <a:r>
              <a:t>Никаких обещаний о тишине, розетках, ночной безопасности или маршруте без ступеней без данных.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"/>
            <a:ext cx="4572000" cy="267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687768"/>
                </a:solidFill>
                <a:latin typeface="Noto Sans"/>
              </a:defRPr>
            </a:pPr>
            <a:r>
              <a:t>QADAM / ARCSOLO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0" y="320040"/>
            <a:ext cx="3733800" cy="257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87768"/>
                </a:solidFill>
                <a:latin typeface="Noto Sans"/>
              </a:defRPr>
            </a:pPr>
            <a:r>
              <a:t>08 / 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1049000" cy="5734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Проверили поведение, а не только красивый экран.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446520"/>
            <a:ext cx="8382000" cy="247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87768"/>
                </a:solidFill>
                <a:latin typeface="Noto Sans"/>
              </a:defRPr>
            </a:pPr>
            <a:r>
              <a:t>BUILD WITH AI · SMART CITY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16040"/>
            <a:ext cx="4953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687768"/>
                </a:solidFill>
                <a:latin typeface="Noto San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2095500"/>
            <a:ext cx="5448300" cy="16383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47900"/>
            <a:ext cx="4876800" cy="8619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67"/>
              </a:lnSpc>
              <a:spcBef>
                <a:spcPts val="0"/>
              </a:spcBef>
              <a:spcAft>
                <a:spcPts val="0"/>
              </a:spcAft>
              <a:defRPr sz="4740" b="0">
                <a:solidFill>
                  <a:srgbClr val="203E36"/>
                </a:solidFill>
                <a:latin typeface="Noto Serif"/>
              </a:defRPr>
            </a:pPr>
            <a: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" y="3177540"/>
            <a:ext cx="4876800" cy="3547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теста движка, API и 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300" y="2095500"/>
            <a:ext cx="5448300" cy="16383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8900" y="2247900"/>
            <a:ext cx="4876800" cy="8619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67"/>
              </a:lnSpc>
              <a:spcBef>
                <a:spcPts val="0"/>
              </a:spcBef>
              <a:spcAft>
                <a:spcPts val="0"/>
              </a:spcAft>
              <a:defRPr sz="4740" b="0">
                <a:solidFill>
                  <a:srgbClr val="203E36"/>
                </a:solidFill>
                <a:latin typeface="Noto Serif"/>
              </a:defRPr>
            </a:pPr>
            <a:r>
              <a:t>160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3177540"/>
            <a:ext cx="4876800" cy="3547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комбинаций ограничений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" y="3962400"/>
            <a:ext cx="5448300" cy="16383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4114800"/>
            <a:ext cx="4876800" cy="8619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67"/>
              </a:lnSpc>
              <a:spcBef>
                <a:spcPts val="0"/>
              </a:spcBef>
              <a:spcAft>
                <a:spcPts val="0"/>
              </a:spcAft>
              <a:defRPr sz="4740" b="0">
                <a:solidFill>
                  <a:srgbClr val="203E36"/>
                </a:solidFill>
                <a:latin typeface="Noto Serif"/>
              </a:defRPr>
            </a:pPr>
            <a:r>
              <a:t>8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5044440"/>
            <a:ext cx="4876800" cy="3547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приёмочных сценариев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300" y="3962400"/>
            <a:ext cx="5448300" cy="16383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8900" y="4114800"/>
            <a:ext cx="4876800" cy="8619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67"/>
              </a:lnSpc>
              <a:spcBef>
                <a:spcPts val="0"/>
              </a:spcBef>
              <a:spcAft>
                <a:spcPts val="0"/>
              </a:spcAft>
              <a:defRPr sz="4740" b="0">
                <a:solidFill>
                  <a:srgbClr val="203E36"/>
                </a:solidFill>
                <a:latin typeface="Noto Serif"/>
              </a:defRPr>
            </a:pPr>
            <a:r>
              <a:t>17 / 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9380" y="5044440"/>
            <a:ext cx="4876800" cy="3547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проверок в браузере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120" y="5928359"/>
            <a:ext cx="10972800" cy="3157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87768"/>
                </a:solidFill>
                <a:latin typeface="Noto Sans"/>
              </a:defRPr>
            </a:pPr>
            <a:r>
              <a:t>Включая пустую выдачу, закрытие во время визита, приватность, мобильный экран и неверный ответ модели.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"/>
            <a:ext cx="4572000" cy="267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687768"/>
                </a:solidFill>
                <a:latin typeface="Noto Sans"/>
              </a:defRPr>
            </a:pPr>
            <a:r>
              <a:t>QADAM / ARCSOLO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0" y="320040"/>
            <a:ext cx="3733800" cy="257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87768"/>
                </a:solidFill>
                <a:latin typeface="Noto Sans"/>
              </a:defRPr>
            </a:pPr>
            <a:r>
              <a:t>09 / БИЗНЕС-ГИПОТЕЗА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1049000" cy="5734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Сначала польза человеку. Затем городской сервис.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446520"/>
            <a:ext cx="8382000" cy="247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87768"/>
                </a:solidFill>
                <a:latin typeface="Noto Sans"/>
              </a:defRPr>
            </a:pPr>
            <a:r>
              <a:t>BUILD WITH AI · SMART CITY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16040"/>
            <a:ext cx="4953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687768"/>
                </a:solidFill>
                <a:latin typeface="Noto San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2133600"/>
            <a:ext cx="5410200" cy="3429000"/>
          </a:xfrm>
          <a:prstGeom prst="roundRect">
            <a:avLst>
              <a:gd name="adj" fmla="val 4000"/>
            </a:avLst>
          </a:prstGeom>
          <a:solidFill>
            <a:srgbClr val="20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2438400"/>
            <a:ext cx="4838700" cy="5108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02"/>
              </a:lnSpc>
              <a:spcBef>
                <a:spcPts val="0"/>
              </a:spcBef>
              <a:spcAft>
                <a:spcPts val="0"/>
              </a:spcAft>
              <a:defRPr sz="2580" b="0">
                <a:solidFill>
                  <a:srgbClr val="D6ED92"/>
                </a:solidFill>
                <a:latin typeface="Noto Serif"/>
              </a:defRPr>
            </a:pPr>
            <a:r>
              <a:t>Бесплатно для прогулки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223260"/>
            <a:ext cx="4762500" cy="696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FFFEFA"/>
                </a:solidFill>
                <a:latin typeface="Noto Sans"/>
              </a:defRPr>
            </a:pPr>
            <a:r>
              <a:t>Жители, родители, туристы.</a:t>
            </a:r>
          </a:p>
          <a:p>
            <a:pPr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FFFEFA"/>
                </a:solidFill>
                <a:latin typeface="Noto Sans"/>
              </a:defRPr>
            </a:pPr>
            <a:r>
              <a:t>Короткий план без регистрации.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343400"/>
            <a:ext cx="4762500" cy="6181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C1CEBC"/>
                </a:solidFill>
                <a:latin typeface="Noto Sans"/>
              </a:defRPr>
            </a:pPr>
            <a:r>
              <a:t>Ценность: меньше времени на выбор,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C1CEBC"/>
                </a:solidFill>
                <a:latin typeface="Noto Sans"/>
              </a:defRPr>
            </a:pPr>
            <a:r>
              <a:t>больше понятных действий рядом.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300" y="2133600"/>
            <a:ext cx="5448300" cy="342900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0" y="2438400"/>
            <a:ext cx="4876800" cy="5108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02"/>
              </a:lnSpc>
              <a:spcBef>
                <a:spcPts val="0"/>
              </a:spcBef>
              <a:spcAft>
                <a:spcPts val="0"/>
              </a:spcAft>
              <a:defRPr sz="2580" b="0">
                <a:solidFill>
                  <a:srgbClr val="203E36"/>
                </a:solidFill>
                <a:latin typeface="Noto Serif"/>
              </a:defRPr>
            </a:pPr>
            <a:r>
              <a:t>B2B после пилота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223260"/>
            <a:ext cx="4762500" cy="696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687768"/>
                </a:solidFill>
                <a:latin typeface="Noto Sans"/>
              </a:defRPr>
            </a:pPr>
            <a:r>
              <a:t>Отели, городские порталы,</a:t>
            </a:r>
          </a:p>
          <a:p>
            <a:pPr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687768"/>
                </a:solidFill>
                <a:latin typeface="Noto Sans"/>
              </a:defRPr>
            </a:pPr>
            <a:r>
              <a:t>организаторы мероприятий.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4305300"/>
            <a:ext cx="4762500" cy="88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Гипотеза: платный виджет и интеграция.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Реклама маркируется и не отменяет</a:t>
            </a:r>
          </a:p>
          <a:p>
            <a:pPr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87768"/>
                </a:solidFill>
                <a:latin typeface="Noto Sans"/>
              </a:defRPr>
            </a:pPr>
            <a:r>
              <a:t>ограничения.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" y="5935980"/>
            <a:ext cx="10972800" cy="3157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87768"/>
                </a:solidFill>
                <a:latin typeface="Noto Sans"/>
              </a:defRPr>
            </a:pPr>
            <a:r>
              <a:t>План пилота: 20 пользователей · 3 сценария · 2 недели. Это цель, не уже достигнутый результат.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"/>
            <a:ext cx="4572000" cy="267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687768"/>
                </a:solidFill>
                <a:latin typeface="Noto Sans"/>
              </a:defRPr>
            </a:pPr>
            <a:r>
              <a:t>QADAM / ARCSOLO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0" y="320040"/>
            <a:ext cx="3733800" cy="257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87768"/>
                </a:solidFill>
                <a:latin typeface="Noto Sans"/>
              </a:defRPr>
            </a:pPr>
            <a:r>
              <a:t>10 / СЛЕДУЮЩИЙ ШАГ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1049000" cy="1055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Честные ограничения превращаем в план</a:t>
            </a:r>
          </a:p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203E36"/>
                </a:solidFill>
                <a:latin typeface="Noto Serif"/>
              </a:defRPr>
            </a:pPr>
            <a:r>
              <a:t>развития.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446520"/>
            <a:ext cx="8382000" cy="247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87768"/>
                </a:solidFill>
                <a:latin typeface="Noto Sans"/>
              </a:defRPr>
            </a:pPr>
            <a:r>
              <a:t>BUILD WITH AI · SMART CITY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16040"/>
            <a:ext cx="4953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687768"/>
                </a:solidFill>
                <a:latin typeface="Noto San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2171700"/>
            <a:ext cx="11125200" cy="70866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346960"/>
            <a:ext cx="4495800" cy="374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203E36"/>
                </a:solidFill>
                <a:latin typeface="Noto Serif"/>
              </a:defRPr>
            </a:pPr>
            <a:r>
              <a:t>Данные неполные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324100"/>
            <a:ext cx="533400" cy="423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11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687768"/>
                </a:solidFill>
                <a:latin typeface="Noto San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7900" y="2369820"/>
            <a:ext cx="5334000" cy="345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Проверенные описания и расписания от партнёров.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" y="3063240"/>
            <a:ext cx="11125200" cy="70866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3238500"/>
            <a:ext cx="4495800" cy="374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203E36"/>
                </a:solidFill>
                <a:latin typeface="Noto Serif"/>
              </a:defRPr>
            </a:pPr>
            <a:r>
              <a:t>Дорога приблизительная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215640"/>
            <a:ext cx="533400" cy="423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11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687768"/>
                </a:solidFill>
                <a:latin typeface="Noto San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7900" y="3261360"/>
            <a:ext cx="5334000" cy="345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Пешеходный граф: входы, переходы, барьеры.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0" y="3954779"/>
            <a:ext cx="11125200" cy="70866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4130040"/>
            <a:ext cx="4495800" cy="374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203E36"/>
                </a:solidFill>
                <a:latin typeface="Noto Serif"/>
              </a:defRPr>
            </a:pPr>
            <a:r>
              <a:t>Генерация ограничена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107179"/>
            <a:ext cx="533400" cy="423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11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687768"/>
                </a:solidFill>
                <a:latin typeface="Noto San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7900" y="4152900"/>
            <a:ext cx="5334000" cy="345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Живой Gemini, оценка полезности и устойчивости.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4846320"/>
            <a:ext cx="11125200" cy="708660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5021580"/>
            <a:ext cx="4495800" cy="374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203E36"/>
                </a:solidFill>
                <a:latin typeface="Noto Serif"/>
              </a:defRPr>
            </a:pPr>
            <a:r>
              <a:t>Пока нет пользовательского пилота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998720"/>
            <a:ext cx="533400" cy="423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11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687768"/>
                </a:solidFill>
                <a:latin typeface="Noto San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7900" y="5044440"/>
            <a:ext cx="5334000" cy="345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6"/>
              </a:lnSpc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687768"/>
                </a:solidFill>
                <a:latin typeface="Noto Sans"/>
              </a:defRPr>
            </a:pPr>
            <a:r>
              <a:t>Наблюдения, обратная связь и проверка спроса.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20" y="5996940"/>
            <a:ext cx="10896600" cy="3255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687768"/>
                </a:solidFill>
                <a:latin typeface="Noto Sans"/>
              </a:defRPr>
            </a:pPr>
            <a:r>
              <a:t>Дальше: события, групповое планирование, независимая проверка доступности.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"/>
            <a:ext cx="4572000" cy="267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D6ED92"/>
                </a:solidFill>
                <a:latin typeface="Noto Sans"/>
              </a:defRPr>
            </a:pPr>
            <a:r>
              <a:t>QADAM / ARCSOLO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0" y="320040"/>
            <a:ext cx="3733800" cy="257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D6ED92"/>
                </a:solidFill>
                <a:latin typeface="Noto Sans"/>
              </a:defRPr>
            </a:pPr>
            <a:r>
              <a:t>11 / ФИНАЛ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1049000" cy="5734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D6ED92"/>
                </a:solidFill>
                <a:latin typeface="Noto Serif"/>
              </a:defRPr>
            </a:pPr>
            <a:r>
              <a:t>Один район. Один час. Один хороший Qadam.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446520"/>
            <a:ext cx="8382000" cy="247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D6ED92"/>
                </a:solidFill>
                <a:latin typeface="Noto Sans"/>
              </a:defRPr>
            </a:pPr>
            <a:r>
              <a:t>BUILD WITH AI · SMART CITY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0" y="6416040"/>
            <a:ext cx="4953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D6ED92"/>
                </a:solidFill>
                <a:latin typeface="Noto San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09800"/>
            <a:ext cx="10668000" cy="13533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68"/>
              </a:lnSpc>
              <a:spcBef>
                <a:spcPts val="0"/>
              </a:spcBef>
              <a:spcAft>
                <a:spcPts val="0"/>
              </a:spcAft>
              <a:defRPr sz="4140" b="0">
                <a:solidFill>
                  <a:srgbClr val="D6ED92"/>
                </a:solidFill>
                <a:latin typeface="Noto Serif"/>
              </a:defRPr>
            </a:pPr>
            <a:r>
              <a:t>Не просто «куда сходить».</a:t>
            </a:r>
          </a:p>
          <a:p>
            <a:pPr>
              <a:lnSpc>
                <a:spcPts val="4968"/>
              </a:lnSpc>
              <a:spcBef>
                <a:spcPts val="0"/>
              </a:spcBef>
              <a:spcAft>
                <a:spcPts val="0"/>
              </a:spcAft>
              <a:defRPr sz="4140" b="0">
                <a:solidFill>
                  <a:srgbClr val="D6ED92"/>
                </a:solidFill>
                <a:latin typeface="Noto Serif"/>
              </a:defRPr>
            </a:pPr>
            <a:r>
              <a:t>План, которому понятны границы.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4076700"/>
            <a:ext cx="10058400" cy="774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EFA"/>
                </a:solidFill>
                <a:latin typeface="Noto Sans"/>
              </a:defRPr>
            </a:pPr>
            <a:r>
              <a:t>Готовы показать демо и начать пилот</a:t>
            </a:r>
          </a:p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EFA"/>
                </a:solidFill>
                <a:latin typeface="Noto Sans"/>
              </a:defRPr>
            </a:pPr>
            <a:r>
              <a:t>с локальными данными и реальными пользователями.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5463540"/>
            <a:ext cx="10668000" cy="374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C1CEBC"/>
                </a:solidFill>
                <a:latin typeface="Noto Sans"/>
              </a:defRPr>
            </a:pPr>
            <a:r>
              <a:t>ArcSolo · github.com/Csadow/qadam-astana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5935980"/>
            <a:ext cx="10668000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C1CEBC"/>
                </a:solidFill>
                <a:latin typeface="Noto Sans"/>
              </a:defRPr>
            </a:pPr>
            <a:r>
              <a:t>Репозиторий и hosted-демо пока приватные: для жюри нужен доступ или архив.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